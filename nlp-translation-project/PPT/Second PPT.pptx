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61" r:id="rId4"/>
    <p:sldId id="275" r:id="rId5"/>
    <p:sldId id="276" r:id="rId6"/>
    <p:sldId id="264" r:id="rId7"/>
    <p:sldId id="377" r:id="rId8"/>
    <p:sldId id="332" r:id="rId9"/>
    <p:sldId id="345" r:id="rId10"/>
    <p:sldId id="333" r:id="rId11"/>
    <p:sldId id="334" r:id="rId12"/>
    <p:sldId id="342" r:id="rId13"/>
    <p:sldId id="278" r:id="rId14"/>
    <p:sldId id="266" r:id="rId15"/>
    <p:sldId id="267" r:id="rId16"/>
    <p:sldId id="268" r:id="rId17"/>
    <p:sldId id="341" r:id="rId18"/>
    <p:sldId id="269" r:id="rId19"/>
    <p:sldId id="282" r:id="rId20"/>
    <p:sldId id="283" r:id="rId21"/>
    <p:sldId id="284" r:id="rId22"/>
    <p:sldId id="346" r:id="rId23"/>
    <p:sldId id="307" r:id="rId24"/>
    <p:sldId id="308" r:id="rId25"/>
    <p:sldId id="309" r:id="rId26"/>
    <p:sldId id="311" r:id="rId27"/>
    <p:sldId id="313" r:id="rId28"/>
    <p:sldId id="315" r:id="rId29"/>
    <p:sldId id="317" r:id="rId30"/>
    <p:sldId id="318" r:id="rId31"/>
    <p:sldId id="319" r:id="rId32"/>
    <p:sldId id="321" r:id="rId33"/>
    <p:sldId id="322" r:id="rId34"/>
    <p:sldId id="323" r:id="rId35"/>
    <p:sldId id="326" r:id="rId36"/>
    <p:sldId id="325" r:id="rId37"/>
    <p:sldId id="373" r:id="rId38"/>
    <p:sldId id="304" r:id="rId39"/>
    <p:sldId id="376"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68" d="100"/>
          <a:sy n="68" d="100"/>
        </p:scale>
        <p:origin x="7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4143439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110982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890476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C61D38-F56A-49F0-BE2F-5196387D6A13}" type="datetimeFigureOut">
              <a:rPr lang="en-IN" smtClean="0"/>
              <a:t>06-04-2024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1641659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C61D38-F56A-49F0-BE2F-5196387D6A13}" type="datetimeFigureOut">
              <a:rPr lang="en-IN" smtClean="0"/>
              <a:t>06-04-2024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4027087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C61D38-F56A-49F0-BE2F-5196387D6A13}" type="datetimeFigureOut">
              <a:rPr lang="en-IN" smtClean="0"/>
              <a:t>06-04-2024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332472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C61D38-F56A-49F0-BE2F-5196387D6A13}" type="datetimeFigureOut">
              <a:rPr lang="en-IN" smtClean="0"/>
              <a:t>06-04-2024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1274656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C61D38-F56A-49F0-BE2F-5196387D6A13}" type="datetimeFigureOut">
              <a:rPr lang="en-IN" smtClean="0"/>
              <a:t>06-04-2024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324224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C61D38-F56A-49F0-BE2F-5196387D6A13}" type="datetimeFigureOut">
              <a:rPr lang="en-IN" smtClean="0"/>
              <a:t>06-04-2024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2009880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317350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70142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1005646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565829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1451782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392833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C61D38-F56A-49F0-BE2F-5196387D6A13}"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4C42-EF8D-4F60-818D-3B36809416DB}" type="slidenum">
              <a:rPr lang="en-IN" smtClean="0"/>
              <a:t>‹#›</a:t>
            </a:fld>
            <a:endParaRPr lang="en-IN"/>
          </a:p>
        </p:txBody>
      </p:sp>
    </p:spTree>
    <p:extLst>
      <p:ext uri="{BB962C8B-B14F-4D97-AF65-F5344CB8AC3E}">
        <p14:creationId xmlns:p14="http://schemas.microsoft.com/office/powerpoint/2010/main" val="251897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1C61D38-F56A-49F0-BE2F-5196387D6A13}" type="datetimeFigureOut">
              <a:rPr lang="en-IN" smtClean="0"/>
              <a:t>06-04-2024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7614C42-EF8D-4F60-818D-3B36809416DB}" type="slidenum">
              <a:rPr lang="en-IN" smtClean="0"/>
              <a:t>‹#›</a:t>
            </a:fld>
            <a:endParaRPr lang="en-IN"/>
          </a:p>
        </p:txBody>
      </p:sp>
    </p:spTree>
    <p:extLst>
      <p:ext uri="{BB962C8B-B14F-4D97-AF65-F5344CB8AC3E}">
        <p14:creationId xmlns:p14="http://schemas.microsoft.com/office/powerpoint/2010/main" val="2965080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47447" y="2971535"/>
            <a:ext cx="7863840" cy="914930"/>
          </a:xfrm>
          <a:prstGeom prst="rect">
            <a:avLst/>
          </a:prstGeom>
        </p:spPr>
        <p:txBody>
          <a:bodyPr wrap="square">
            <a:spAutoFit/>
          </a:bodyPr>
          <a:lstStyle/>
          <a:p>
            <a:pPr algn="ctr">
              <a:lnSpc>
                <a:spcPct val="115000"/>
              </a:lnSpc>
              <a:spcAft>
                <a:spcPts val="8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Cyber Threat Detection Based On Artificial Neural Networks Using Event Profiles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01305" y="100521"/>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286926" y="1207293"/>
            <a:ext cx="10728078" cy="4756238"/>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integrates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to develop a multilingual information dissemination system for Indian railway stations.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renowned for its natural-sounding speech and extensive language support, including various Indian dialects, plays a key role in converting text to audible announcements. The system is designed to seamlessly translate written information into speech, enhancing accessibility and convenience for passengers. It incorporates real-time text-to-speech conversion, ensuring dynamic and accurate information delivery. Essential for stations, this solution addresses the need for clear communication in noisy environments and is adaptable for mobile platforms, making it a robust tool for modern, efficient railway operations.</a:t>
            </a: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Multilingual, Indian Railways, Text-to-Speech, Information Dissemination, Real-Time Conversion, Speech Synthesis, Python, Accessibility, Noisy Environments, Mobile Integration.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4534" y="32577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555625" y="1524408"/>
            <a:ext cx="9194487" cy="3268652"/>
          </a:xfrm>
          <a:prstGeom prst="rect">
            <a:avLst/>
          </a:prstGeom>
          <a:noFill/>
        </p:spPr>
        <p:txBody>
          <a:bodyPr wrap="square" rtlCol="0">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objective of this project is to develop a sophisticated natural language translation engine utilizing the Google Text-to-Speech (</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gTTS</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Python library, aimed at revolutionizing announcements and information dissemination across Indian railway stations. By facilitating multilingual speech synthesis, the system seeks to enhance passenger experience through real-time, accessible, and clear communication, particularly in noisy environments, thereby improving operational efficiency and inclusivity in India's vast railway network.</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776594" y="7616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889135" y="2253357"/>
            <a:ext cx="9014099" cy="2812950"/>
          </a:xfrm>
          <a:prstGeom prst="rect">
            <a:avLst/>
          </a:prstGeom>
          <a:noFill/>
        </p:spPr>
        <p:txBody>
          <a:bodyPr wrap="square" rtlCol="0">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Indian railway stations, passengers often face challenges in receiving clear, timely information due to language barriers and noisy environments. The existing systems struggle to cater to the diverse linguistic landscape and dynamic nature of railway operations. This project addresses the need for a versatile, real-time information dissemination system that leverages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library for natural-sounding, multilingual announcements, enhancing accessibility and passenger experience.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1005" y="2025506"/>
            <a:ext cx="9385814" cy="2806987"/>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motivation behind "Natural Language Translation Engine for Announcements and Information Dissemination at Stations" stems from the critical need to enhance passenger experience in Indian railways. By leveraging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library for multilingual speech synthesis, this project aims to bridge communication gaps in noisy environments, ensuring accessible, dynamic, and accurate information delivery, thus significantly improving efficiency and convenience in railway operations.</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028797" y="44866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422031" y="1653026"/>
            <a:ext cx="9172135" cy="2812950"/>
          </a:xfrm>
          <a:prstGeom prst="rect">
            <a:avLst/>
          </a:prstGeom>
          <a:noFill/>
        </p:spPr>
        <p:txBody>
          <a:bodyPr wrap="square">
            <a:spAutoFit/>
          </a:bodyPr>
          <a:lstStyle/>
          <a:p>
            <a:pPr algn="just">
              <a:lnSpc>
                <a:spcPct val="150000"/>
              </a:lnSpc>
              <a:spcBef>
                <a:spcPts val="1200"/>
              </a:spcBef>
              <a:spcAft>
                <a:spcPts val="80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scope of this project encompasses the development of a multilingual text-to-speech system for Indian railway stations, utilizing the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gTTS</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Python library for real-time information conversion into audible announcements. It focuses on enhancing passenger accessibility and convenience by supporting various Indian dialects, ensuring clear communication in noisy settings, and offering mobile platform integration for improved railway operational efficiency.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4009291" y="532786"/>
            <a:ext cx="6105378" cy="646331"/>
          </a:xfrm>
          <a:prstGeom prst="rect">
            <a:avLst/>
          </a:prstGeom>
          <a:noFill/>
        </p:spPr>
        <p:txBody>
          <a:bodyPr wrap="square">
            <a:spAutoFit/>
          </a:bodyPr>
          <a:lstStyle/>
          <a:p>
            <a:r>
              <a:rPr lang="en-US" sz="3600" b="1" dirty="0">
                <a:solidFill>
                  <a:schemeClr val="tx2"/>
                </a:solidFill>
                <a:latin typeface="Times New Roman" panose="02020603050405020304" pitchFamily="18" charset="0"/>
                <a:cs typeface="Times New Roman" panose="02020603050405020304" pitchFamily="18" charset="0"/>
              </a:rPr>
              <a:t>SCOPE</a:t>
            </a:r>
            <a:endParaRPr lang="en-IN" sz="3600" dirty="0">
              <a:solidFill>
                <a:schemeClr val="tx2"/>
              </a:solidFill>
            </a:endParaRPr>
          </a:p>
        </p:txBody>
      </p:sp>
    </p:spTree>
    <p:extLst>
      <p:ext uri="{BB962C8B-B14F-4D97-AF65-F5344CB8AC3E}">
        <p14:creationId xmlns:p14="http://schemas.microsoft.com/office/powerpoint/2010/main" val="60737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7771" y="188085"/>
            <a:ext cx="4754880" cy="535246"/>
          </a:xfrm>
        </p:spPr>
        <p:txBody>
          <a:bodyPr>
            <a:normAutofit fontScale="90000"/>
          </a:bodyPr>
          <a:lstStyle/>
          <a:p>
            <a:pPr algn="ctr"/>
            <a:r>
              <a:rPr lang="en-US" sz="4000" b="1" dirty="0">
                <a:solidFill>
                  <a:schemeClr val="tx2"/>
                </a:solidFill>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275409" y="1070363"/>
            <a:ext cx="10120616" cy="5599552"/>
          </a:xfrm>
        </p:spPr>
        <p:txBody>
          <a:bodyPr>
            <a:no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bustling environs of Indian railway stations, where the confluence of diverse languages and dialects presents a unique challenge to effective communication, the need for a robust, multilingual information dissemination system is paramount. This project introduces a cutting-edge solution: a Natural Language Translation Engine for Announcements and Information Dissemination at Stations, leveraging the capabilities of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Known for its natural-sounding speech synthesis and extensive support for a wide array of languages, including a multitude of Indian dialects,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stands at the core of this innovative system. Designed to bridge the communication gap, this system adeptly converts textual information into audible announcements, thereby enhancing accessibility and convenience for passengers. Its cornerstone is the real-time text-to-speech conversion feature, which ensures the delivery of dynamic and accurate information, vital for the ever-changing schedules and updates typical of railway operations. </a:t>
            </a:r>
          </a:p>
        </p:txBody>
      </p:sp>
    </p:spTree>
    <p:extLst>
      <p:ext uri="{BB962C8B-B14F-4D97-AF65-F5344CB8AC3E}">
        <p14:creationId xmlns:p14="http://schemas.microsoft.com/office/powerpoint/2010/main" val="259529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591" y="1102177"/>
            <a:ext cx="10142720" cy="4191981"/>
          </a:xfrm>
          <a:prstGeom prst="rect">
            <a:avLst/>
          </a:prstGeom>
        </p:spPr>
        <p:txBody>
          <a:bodyPr wrap="square">
            <a:sp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is not just about addressing the need for clear communication amidst the cacophony of noisy environments; it's also about inclusivity. By incorporating speech synthesis that accommodates various Indian languages, the system ensures that information is accessible to a broader audience, making travel more seamless and less daunting for passengers from different linguistic backgrounds. Moreover, with its adaptability for mobile platforms, the solution proposed herein transcends traditional announcement systems, offering a versatile tool for modern, efficient railway operations. This initiative not only enhances passenger experience but also sets a new standard for public transportation systems in multilingual and multicultural contexts.</a:t>
            </a:r>
          </a:p>
        </p:txBody>
      </p:sp>
    </p:spTree>
    <p:extLst>
      <p:ext uri="{BB962C8B-B14F-4D97-AF65-F5344CB8AC3E}">
        <p14:creationId xmlns:p14="http://schemas.microsoft.com/office/powerpoint/2010/main" val="11393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05351" y="1422791"/>
          <a:ext cx="9581407" cy="4942840"/>
        </p:xfrm>
        <a:graphic>
          <a:graphicData uri="http://schemas.openxmlformats.org/drawingml/2006/table">
            <a:tbl>
              <a:tblPr firstRow="1" bandRow="1">
                <a:tableStyleId>{5C22544A-7EE6-4342-B048-85BDC9FD1C3A}</a:tableStyleId>
              </a:tblPr>
              <a:tblGrid>
                <a:gridCol w="760686">
                  <a:extLst>
                    <a:ext uri="{9D8B030D-6E8A-4147-A177-3AD203B41FA5}">
                      <a16:colId xmlns:a16="http://schemas.microsoft.com/office/drawing/2014/main" val="20000"/>
                    </a:ext>
                  </a:extLst>
                </a:gridCol>
                <a:gridCol w="1368355">
                  <a:extLst>
                    <a:ext uri="{9D8B030D-6E8A-4147-A177-3AD203B41FA5}">
                      <a16:colId xmlns:a16="http://schemas.microsoft.com/office/drawing/2014/main" val="20001"/>
                    </a:ext>
                  </a:extLst>
                </a:gridCol>
                <a:gridCol w="1613453">
                  <a:extLst>
                    <a:ext uri="{9D8B030D-6E8A-4147-A177-3AD203B41FA5}">
                      <a16:colId xmlns:a16="http://schemas.microsoft.com/office/drawing/2014/main" val="20002"/>
                    </a:ext>
                  </a:extLst>
                </a:gridCol>
                <a:gridCol w="1723722">
                  <a:extLst>
                    <a:ext uri="{9D8B030D-6E8A-4147-A177-3AD203B41FA5}">
                      <a16:colId xmlns:a16="http://schemas.microsoft.com/office/drawing/2014/main" val="20003"/>
                    </a:ext>
                  </a:extLst>
                </a:gridCol>
                <a:gridCol w="411519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1951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Bar-Hillel, Y</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present state of research on mechanical translation. </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Moreover, there's a pressing need for high-speed, albeit potentially lower accuracy, scanning of vast printed materials for various purposes. Bar-Hillel suggests that advancements in MT could address these challenges, offering valuable insights into linguistic communication while facilitating efficient translation and scanning processes. </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r>
                        <a:rPr lang="en-US">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1960</a:t>
                      </a:r>
                      <a:endParaRPr lang="en-IN"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Bar-Hillel, Y.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present status of automatic translation of languages. </a:t>
                      </a:r>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800" kern="1200" dirty="0">
                          <a:solidFill>
                            <a:schemeClr val="dk1"/>
                          </a:solidFill>
                          <a:effectLst/>
                          <a:latin typeface="Times New Roman" panose="02020603050405020304" pitchFamily="18" charset="0"/>
                          <a:ea typeface="+mn-ea"/>
                          <a:cs typeface="Times New Roman" panose="02020603050405020304" pitchFamily="18" charset="0"/>
                        </a:rPr>
                        <a:t>Bar-Hillel also mentions the presence of research centers in England and Italy, highlighting the global interest in MT. Overall, the abstract underscores the growing importance and international engagement in the development of automatic language translation systems.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2039815" y="-168813"/>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26944" y="424180"/>
          <a:ext cx="9017389" cy="6009640"/>
        </p:xfrm>
        <a:graphic>
          <a:graphicData uri="http://schemas.openxmlformats.org/drawingml/2006/table">
            <a:tbl>
              <a:tblPr firstRow="1" bandRow="1">
                <a:tableStyleId>{5C22544A-7EE6-4342-B048-85BDC9FD1C3A}</a:tableStyleId>
              </a:tblPr>
              <a:tblGrid>
                <a:gridCol w="699211">
                  <a:extLst>
                    <a:ext uri="{9D8B030D-6E8A-4147-A177-3AD203B41FA5}">
                      <a16:colId xmlns:a16="http://schemas.microsoft.com/office/drawing/2014/main" val="20000"/>
                    </a:ext>
                  </a:extLst>
                </a:gridCol>
                <a:gridCol w="1114783">
                  <a:extLst>
                    <a:ext uri="{9D8B030D-6E8A-4147-A177-3AD203B41FA5}">
                      <a16:colId xmlns:a16="http://schemas.microsoft.com/office/drawing/2014/main" val="20001"/>
                    </a:ext>
                  </a:extLst>
                </a:gridCol>
                <a:gridCol w="1626047">
                  <a:extLst>
                    <a:ext uri="{9D8B030D-6E8A-4147-A177-3AD203B41FA5}">
                      <a16:colId xmlns:a16="http://schemas.microsoft.com/office/drawing/2014/main" val="20002"/>
                    </a:ext>
                  </a:extLst>
                </a:gridCol>
                <a:gridCol w="1778478">
                  <a:extLst>
                    <a:ext uri="{9D8B030D-6E8A-4147-A177-3AD203B41FA5}">
                      <a16:colId xmlns:a16="http://schemas.microsoft.com/office/drawing/2014/main" val="20003"/>
                    </a:ext>
                  </a:extLst>
                </a:gridCol>
                <a:gridCol w="3798870">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2011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Birch, A., Osborne, M.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Reordering metrics for MT.</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study demonstrates that the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LRscore</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aligns more closely with human judgments compared to other metrics like BLEU score. Additionally, training translation model parameters with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LRscore</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results in preferred human-readable translations without sacrificing BLEU scores.</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r>
                        <a:rPr lang="en-US">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2014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Denkowski</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M.,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Lavie</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A,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Lacruz</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I., Dyer, C.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Real time adaptive machine translation for post-editing with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cdec</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and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TransCenter</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TransCenter</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enables users to connect to Realtime systems and logs post-editing activity, aiding in the analysis of human translator productivity. The combination of these tools allows for the streamlined deployment of MT systems tailored for post-editing. Additionally, both tools and post-editing data from validation experiments are available under an open-source license.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F1729D-250B-6E0A-C1A6-3FCA06B835AD}"/>
              </a:ext>
            </a:extLst>
          </p:cNvPr>
          <p:cNvGraphicFramePr>
            <a:graphicFrameLocks noGrp="1"/>
          </p:cNvGraphicFramePr>
          <p:nvPr/>
        </p:nvGraphicFramePr>
        <p:xfrm>
          <a:off x="858507" y="347492"/>
          <a:ext cx="9931413" cy="6163016"/>
        </p:xfrm>
        <a:graphic>
          <a:graphicData uri="http://schemas.openxmlformats.org/drawingml/2006/table">
            <a:tbl>
              <a:tblPr firstRow="1" bandRow="1">
                <a:tableStyleId>{5C22544A-7EE6-4342-B048-85BDC9FD1C3A}</a:tableStyleId>
              </a:tblPr>
              <a:tblGrid>
                <a:gridCol w="788473">
                  <a:extLst>
                    <a:ext uri="{9D8B030D-6E8A-4147-A177-3AD203B41FA5}">
                      <a16:colId xmlns:a16="http://schemas.microsoft.com/office/drawing/2014/main" val="20000"/>
                    </a:ext>
                  </a:extLst>
                </a:gridCol>
                <a:gridCol w="1424766">
                  <a:extLst>
                    <a:ext uri="{9D8B030D-6E8A-4147-A177-3AD203B41FA5}">
                      <a16:colId xmlns:a16="http://schemas.microsoft.com/office/drawing/2014/main" val="20001"/>
                    </a:ext>
                  </a:extLst>
                </a:gridCol>
                <a:gridCol w="1665967">
                  <a:extLst>
                    <a:ext uri="{9D8B030D-6E8A-4147-A177-3AD203B41FA5}">
                      <a16:colId xmlns:a16="http://schemas.microsoft.com/office/drawing/2014/main" val="20002"/>
                    </a:ext>
                  </a:extLst>
                </a:gridCol>
                <a:gridCol w="2079483">
                  <a:extLst>
                    <a:ext uri="{9D8B030D-6E8A-4147-A177-3AD203B41FA5}">
                      <a16:colId xmlns:a16="http://schemas.microsoft.com/office/drawing/2014/main" val="20003"/>
                    </a:ext>
                  </a:extLst>
                </a:gridCol>
                <a:gridCol w="3972724">
                  <a:extLst>
                    <a:ext uri="{9D8B030D-6E8A-4147-A177-3AD203B41FA5}">
                      <a16:colId xmlns:a16="http://schemas.microsoft.com/office/drawing/2014/main" val="20004"/>
                    </a:ext>
                  </a:extLst>
                </a:gridCol>
              </a:tblGrid>
              <a:tr h="493736">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5</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Green, S., Wang, S., Chuang, J., Heer, J. Schuster, S., Manning, C. D. </a:t>
                      </a: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Human effort and machine learnability in computer aided translation. In Proceedings of EMNLP</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Evaluation with professional translators reveals that while postediting is faster, interactive translation yields higher quality results after re-tuning the MT system. Direct tuning to Human Translation Error Rate (HTER) results in significant improvements in subsequent machine output, indicating the efficacy of interactive translation methods.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6</a:t>
                      </a:r>
                    </a:p>
                  </a:txBody>
                  <a:tcPr/>
                </a:tc>
                <a:tc>
                  <a:txBody>
                    <a:bodyPr/>
                    <a:lstStyle/>
                    <a:p>
                      <a:pPr algn="just">
                        <a:lnSpc>
                          <a:spcPct val="150000"/>
                        </a:lnSpc>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Grudin</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J. (2012). </a:t>
                      </a: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A moving target—the evolution of human-computer interaction. In Jacko, J. A. (Ed.), Human-Computer Interaction Handbook: Fundamentals, Evolving Technologies</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Through this examination, he likely highlights the challenges and opportunities inherent in navigating this evolving landscape. The chapter promises insights into the past, present, and future of HCI, providing a comprehensive understanding of this interdisciplinary field.</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04108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570600" y="1714245"/>
            <a:ext cx="8783221" cy="4659609"/>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existing system for railway information dissemination, relying on older libraries, offers basic multilingual support primarily for major Indian languages. It utilizes traditional text-to-speech (TTS) engines and basic natural language processing (NLP) techniques. The system is capable of scripted station announcements and responses over IVRS, but lacks real-time adaptability and the nuanced understanding of modern NLP tools. Its speech synthesis, while functional, does not match the natural quality of newer technologies like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Limited by older frameworks, the system faces challenges in noise reduction, dynamic content generation, and integration with contemporary mobile and web platforms, highlighting the need for an upgrade to more advanced solutions.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94893" y="267286"/>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595854" y="1183208"/>
            <a:ext cx="9527874" cy="5064015"/>
          </a:xfrm>
          <a:prstGeom prst="rect">
            <a:avLst/>
          </a:prstGeom>
        </p:spPr>
        <p:txBody>
          <a:bodyPr wrap="square">
            <a:spAutoFit/>
          </a:bodyPr>
          <a:lstStyle/>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Limited multilingual support, primarily for major Indian languages, restricts accessibility for diverse linguistic communities.</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Outdated text-to-speech (TTS) engines result in unnatural sounding announcements, diminishing user experience.</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Lack of real-time adaptability hinders the system's ability to provide timely and relevant information.</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Inadequate noise reduction capabilities diminish the clarity of announcements, affecting communication in busy station environments.</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Integration challenges with modern mobile and web platforms limit the system's accessibility and usability for passengers.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04703" y="45623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47971" y="1511643"/>
            <a:ext cx="8818061" cy="5121274"/>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proposed system leverages advanced technologies like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to revolutionize information dissemination in Indian railway stations. This solution offers extensive multilingual support, including regional Indian languages and potential for foreign language expansion. It integrates real-time text-to-speech conversion with sophisticated natural language processing (NLP) capabilities, facilitating dynamic, accurate, and natural-sounding announcements. Designed to operate effectively in noisy environments, the system includes noise reduction techniques and is optimized for mobile and web platforms, ensuring accessible and efficient communication. This modern approach significantly enhances passenger experience through timely, clear, and personalized information delivery in a variety of languages.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04494" y="266516"/>
            <a:ext cx="4023360" cy="618978"/>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17344" y="1391931"/>
            <a:ext cx="10597660" cy="5064015"/>
          </a:xfrm>
          <a:prstGeom prst="rect">
            <a:avLst/>
          </a:prstGeom>
        </p:spPr>
        <p:txBody>
          <a:bodyPr wrap="square">
            <a:spAutoFit/>
          </a:bodyPr>
          <a:lstStyle/>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Enhanced Accessibility: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Provides clear, natural-sounding announcements in multiple languages, including regional Indian dialects, improving inclusivity for diverse passenger demographics.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Real-Time Information Delivery: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Ensures dynamic and accurate dissemination of information, adapting swiftly to changes and updates in railway operations.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Improved Passenger Experience: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Delivers personalized and timely announcements, significantly enhancing user satisfaction and convenience during travel.</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Noise Reduction Capabilities: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Maintains clarity of communication in the challenging and noisy environments typical of railway stations.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Mobile and Web Optimization: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Facilitates easy access to information across various platforms, making the system adaptable and convenient for on-the-go use.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78" y="352984"/>
            <a:ext cx="8911687" cy="590542"/>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BLOCK DIAGRAM</a:t>
            </a:r>
          </a:p>
        </p:txBody>
      </p:sp>
      <p:pic>
        <p:nvPicPr>
          <p:cNvPr id="4" name="Picture 3">
            <a:extLst>
              <a:ext uri="{FF2B5EF4-FFF2-40B4-BE49-F238E27FC236}">
                <a16:creationId xmlns:a16="http://schemas.microsoft.com/office/drawing/2014/main" id="{40F1FB0F-4A95-E25B-158F-D2EED1FE53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6412" y="1354455"/>
            <a:ext cx="3428463" cy="4880610"/>
          </a:xfrm>
          <a:prstGeom prst="rect">
            <a:avLst/>
          </a:prstGeom>
          <a:noFill/>
          <a:ln>
            <a:noFill/>
          </a:ln>
        </p:spPr>
      </p:pic>
    </p:spTree>
    <p:extLst>
      <p:ext uri="{BB962C8B-B14F-4D97-AF65-F5344CB8AC3E}">
        <p14:creationId xmlns:p14="http://schemas.microsoft.com/office/powerpoint/2010/main" val="280585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984738" y="1412726"/>
            <a:ext cx="9214340" cy="5445274"/>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Numpy</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IDE/Workbench			:  PyCharm, VS-Code</a:t>
            </a: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706394" y="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I5/Intel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- 160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pic>
        <p:nvPicPr>
          <p:cNvPr id="3" name="Picture 2">
            <a:extLst>
              <a:ext uri="{FF2B5EF4-FFF2-40B4-BE49-F238E27FC236}">
                <a16:creationId xmlns:a16="http://schemas.microsoft.com/office/drawing/2014/main" id="{43D20056-F8F8-742B-C077-D5347AE5E300}"/>
              </a:ext>
            </a:extLst>
          </p:cNvPr>
          <p:cNvPicPr>
            <a:picLocks noChangeAspect="1"/>
          </p:cNvPicPr>
          <p:nvPr/>
        </p:nvPicPr>
        <p:blipFill rotWithShape="1">
          <a:blip r:embed="rId2"/>
          <a:srcRect l="2404" t="13351" r="4007" b="13506"/>
          <a:stretch/>
        </p:blipFill>
        <p:spPr bwMode="auto">
          <a:xfrm>
            <a:off x="3148012" y="2828925"/>
            <a:ext cx="5895975" cy="12001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3247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83" y="1404742"/>
            <a:ext cx="9045146" cy="332398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lvl="0"/>
            <a:r>
              <a:rPr lang="en-US" b="1" dirty="0"/>
              <a:t>1) </a:t>
            </a: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13409"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442460" y="6221256"/>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DE71BD96-EEA7-A5D5-38ED-D12C3BF6C3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55950" y="834707"/>
            <a:ext cx="5880100" cy="518858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2928" y="333587"/>
            <a:ext cx="9045146" cy="240065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BA605B6-1C14-987A-27B2-3F6AE277F0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24474" y="3204097"/>
            <a:ext cx="5943600" cy="2521454"/>
          </a:xfrm>
          <a:prstGeom prst="rect">
            <a:avLst/>
          </a:prstGeom>
          <a:noFill/>
          <a:ln>
            <a:noFill/>
          </a:ln>
        </p:spPr>
      </p:pic>
    </p:spTree>
    <p:extLst>
      <p:ext uri="{BB962C8B-B14F-4D97-AF65-F5344CB8AC3E}">
        <p14:creationId xmlns:p14="http://schemas.microsoft.com/office/powerpoint/2010/main" val="1878164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4264" y="0"/>
            <a:ext cx="11943471"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20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227429" y="5102981"/>
            <a:ext cx="339031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Sequence diagram</a:t>
            </a:r>
          </a:p>
        </p:txBody>
      </p:sp>
      <p:pic>
        <p:nvPicPr>
          <p:cNvPr id="2" name="Picture 1">
            <a:extLst>
              <a:ext uri="{FF2B5EF4-FFF2-40B4-BE49-F238E27FC236}">
                <a16:creationId xmlns:a16="http://schemas.microsoft.com/office/drawing/2014/main" id="{B310393E-B4DE-E2D1-B527-8168AFC3BF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87240" y="3039134"/>
            <a:ext cx="5943600" cy="3255645"/>
          </a:xfrm>
          <a:prstGeom prst="rect">
            <a:avLst/>
          </a:prstGeom>
          <a:noFill/>
          <a:ln>
            <a:noFill/>
          </a:ln>
        </p:spPr>
      </p:pic>
    </p:spTree>
    <p:extLst>
      <p:ext uri="{BB962C8B-B14F-4D97-AF65-F5344CB8AC3E}">
        <p14:creationId xmlns:p14="http://schemas.microsoft.com/office/powerpoint/2010/main" val="383036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3828" y="0"/>
            <a:ext cx="9848639" cy="3323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2750234" y="6278642"/>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Collaboration diagram</a:t>
            </a:r>
          </a:p>
        </p:txBody>
      </p:sp>
      <p:pic>
        <p:nvPicPr>
          <p:cNvPr id="2" name="Picture 1">
            <a:extLst>
              <a:ext uri="{FF2B5EF4-FFF2-40B4-BE49-F238E27FC236}">
                <a16:creationId xmlns:a16="http://schemas.microsoft.com/office/drawing/2014/main" id="{FB403064-A060-9302-795D-605100A7F7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2674" y="3551105"/>
            <a:ext cx="5943600" cy="1852295"/>
          </a:xfrm>
          <a:prstGeom prst="rect">
            <a:avLst/>
          </a:prstGeom>
          <a:noFill/>
          <a:ln>
            <a:noFill/>
          </a:ln>
        </p:spPr>
      </p:pic>
    </p:spTree>
    <p:extLst>
      <p:ext uri="{BB962C8B-B14F-4D97-AF65-F5344CB8AC3E}">
        <p14:creationId xmlns:p14="http://schemas.microsoft.com/office/powerpoint/2010/main" val="3096335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458" y="152880"/>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855742" y="5674640"/>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Deployment diagram</a:t>
            </a:r>
          </a:p>
        </p:txBody>
      </p:sp>
      <p:pic>
        <p:nvPicPr>
          <p:cNvPr id="3" name="Picture 2">
            <a:extLst>
              <a:ext uri="{FF2B5EF4-FFF2-40B4-BE49-F238E27FC236}">
                <a16:creationId xmlns:a16="http://schemas.microsoft.com/office/drawing/2014/main" id="{69DEFE15-97CA-4989-7C1A-99554C17DE4F}"/>
              </a:ext>
            </a:extLst>
          </p:cNvPr>
          <p:cNvPicPr/>
          <p:nvPr/>
        </p:nvPicPr>
        <p:blipFill>
          <a:blip r:embed="rId2"/>
          <a:stretch>
            <a:fillRect/>
          </a:stretch>
        </p:blipFill>
        <p:spPr>
          <a:xfrm>
            <a:off x="3436512" y="3236313"/>
            <a:ext cx="5318975" cy="1755551"/>
          </a:xfrm>
          <a:prstGeom prst="rect">
            <a:avLst/>
          </a:prstGeom>
        </p:spPr>
      </p:pic>
    </p:spTree>
    <p:extLst>
      <p:ext uri="{BB962C8B-B14F-4D97-AF65-F5344CB8AC3E}">
        <p14:creationId xmlns:p14="http://schemas.microsoft.com/office/powerpoint/2010/main" val="582438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23317" y="1997839"/>
            <a:ext cx="9045146" cy="2862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22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0993" y="612483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3" name="Picture 2">
            <a:extLst>
              <a:ext uri="{FF2B5EF4-FFF2-40B4-BE49-F238E27FC236}">
                <a16:creationId xmlns:a16="http://schemas.microsoft.com/office/drawing/2014/main" id="{F14A9DC2-AF48-7C95-708F-BD8C5AD24B2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823595"/>
            <a:ext cx="5943600" cy="5210810"/>
          </a:xfrm>
          <a:prstGeom prst="rect">
            <a:avLst/>
          </a:prstGeom>
          <a:noFill/>
          <a:ln>
            <a:noFill/>
          </a:ln>
        </p:spPr>
      </p:pic>
    </p:spTree>
    <p:extLst>
      <p:ext uri="{BB962C8B-B14F-4D97-AF65-F5344CB8AC3E}">
        <p14:creationId xmlns:p14="http://schemas.microsoft.com/office/powerpoint/2010/main" val="538859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1797" y="419163"/>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4057642" y="602049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8" name="Picture 7">
            <a:extLst>
              <a:ext uri="{FF2B5EF4-FFF2-40B4-BE49-F238E27FC236}">
                <a16:creationId xmlns:a16="http://schemas.microsoft.com/office/drawing/2014/main" id="{1E0FCE51-6F59-0D9D-ACA8-C53242004E1C}"/>
              </a:ext>
            </a:extLst>
          </p:cNvPr>
          <p:cNvPicPr>
            <a:picLocks noChangeAspect="1"/>
          </p:cNvPicPr>
          <p:nvPr/>
        </p:nvPicPr>
        <p:blipFill>
          <a:blip r:embed="rId2"/>
          <a:stretch>
            <a:fillRect/>
          </a:stretch>
        </p:blipFill>
        <p:spPr>
          <a:xfrm>
            <a:off x="2489982" y="3249638"/>
            <a:ext cx="6440658" cy="2557204"/>
          </a:xfrm>
          <a:prstGeom prst="rect">
            <a:avLst/>
          </a:prstGeom>
        </p:spPr>
      </p:pic>
    </p:spTree>
    <p:extLst>
      <p:ext uri="{BB962C8B-B14F-4D97-AF65-F5344CB8AC3E}">
        <p14:creationId xmlns:p14="http://schemas.microsoft.com/office/powerpoint/2010/main" val="142774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783771" y="1470197"/>
            <a:ext cx="10554789"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16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0993" y="576554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3" name="Picture 2">
            <a:extLst>
              <a:ext uri="{FF2B5EF4-FFF2-40B4-BE49-F238E27FC236}">
                <a16:creationId xmlns:a16="http://schemas.microsoft.com/office/drawing/2014/main" id="{09CBD708-5031-3C42-4492-A649FA9221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30315" y="1125415"/>
            <a:ext cx="7731369" cy="4290645"/>
          </a:xfrm>
          <a:prstGeom prst="rect">
            <a:avLst/>
          </a:prstGeom>
          <a:noFill/>
          <a:ln>
            <a:noFill/>
          </a:ln>
        </p:spPr>
      </p:pic>
    </p:spTree>
    <p:extLst>
      <p:ext uri="{BB962C8B-B14F-4D97-AF65-F5344CB8AC3E}">
        <p14:creationId xmlns:p14="http://schemas.microsoft.com/office/powerpoint/2010/main" val="1712003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340" y="129405"/>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17FD6E9-8683-C1CE-AA62-666464DDB78D}"/>
              </a:ext>
            </a:extLst>
          </p:cNvPr>
          <p:cNvPicPr>
            <a:picLocks noChangeAspect="1"/>
          </p:cNvPicPr>
          <p:nvPr/>
        </p:nvPicPr>
        <p:blipFill rotWithShape="1">
          <a:blip r:embed="rId2"/>
          <a:srcRect l="7099" t="18117" r="9397" b="15284"/>
          <a:stretch/>
        </p:blipFill>
        <p:spPr>
          <a:xfrm>
            <a:off x="3446585" y="3915057"/>
            <a:ext cx="5613009" cy="2176255"/>
          </a:xfrm>
          <a:prstGeom prst="rect">
            <a:avLst/>
          </a:prstGeom>
        </p:spPr>
      </p:pic>
      <p:sp>
        <p:nvSpPr>
          <p:cNvPr id="5" name="TextBox 4">
            <a:extLst>
              <a:ext uri="{FF2B5EF4-FFF2-40B4-BE49-F238E27FC236}">
                <a16:creationId xmlns:a16="http://schemas.microsoft.com/office/drawing/2014/main" id="{A431FDA1-BDE7-A222-55ED-5BE3DEB419BB}"/>
              </a:ext>
            </a:extLst>
          </p:cNvPr>
          <p:cNvSpPr txBox="1"/>
          <p:nvPr/>
        </p:nvSpPr>
        <p:spPr>
          <a:xfrm>
            <a:off x="4693033" y="632848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sp>
        <p:nvSpPr>
          <p:cNvPr id="6" name="Rectangle 5">
            <a:extLst>
              <a:ext uri="{FF2B5EF4-FFF2-40B4-BE49-F238E27FC236}">
                <a16:creationId xmlns:a16="http://schemas.microsoft.com/office/drawing/2014/main" id="{D01C6636-D565-C2BF-8313-9567922C799A}"/>
              </a:ext>
            </a:extLst>
          </p:cNvPr>
          <p:cNvSpPr/>
          <p:nvPr/>
        </p:nvSpPr>
        <p:spPr>
          <a:xfrm>
            <a:off x="5941885" y="4803129"/>
            <a:ext cx="586154" cy="40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963628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97953" y="634441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4" name="Picture 3">
            <a:extLst>
              <a:ext uri="{FF2B5EF4-FFF2-40B4-BE49-F238E27FC236}">
                <a16:creationId xmlns:a16="http://schemas.microsoft.com/office/drawing/2014/main" id="{BFEC2186-2DBE-305C-B8B5-BA1C8EF1AE28}"/>
              </a:ext>
            </a:extLst>
          </p:cNvPr>
          <p:cNvPicPr>
            <a:picLocks noChangeAspect="1"/>
          </p:cNvPicPr>
          <p:nvPr/>
        </p:nvPicPr>
        <p:blipFill rotWithShape="1">
          <a:blip r:embed="rId2">
            <a:extLst>
              <a:ext uri="{28A0092B-C50C-407E-A947-70E740481C1C}">
                <a14:useLocalDpi xmlns:a14="http://schemas.microsoft.com/office/drawing/2010/main" val="0"/>
              </a:ext>
            </a:extLst>
          </a:blip>
          <a:srcRect l="5898" t="13835" r="3452" b="8426"/>
          <a:stretch/>
        </p:blipFill>
        <p:spPr bwMode="auto">
          <a:xfrm>
            <a:off x="1688123" y="1463040"/>
            <a:ext cx="7174523" cy="4276578"/>
          </a:xfrm>
          <a:prstGeom prst="rect">
            <a:avLst/>
          </a:prstGeom>
          <a:noFill/>
          <a:ln>
            <a:noFill/>
          </a:ln>
        </p:spPr>
      </p:pic>
    </p:spTree>
    <p:extLst>
      <p:ext uri="{BB962C8B-B14F-4D97-AF65-F5344CB8AC3E}">
        <p14:creationId xmlns:p14="http://schemas.microsoft.com/office/powerpoint/2010/main" val="1666793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5180" y="627609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4" name="Picture 3">
            <a:extLst>
              <a:ext uri="{FF2B5EF4-FFF2-40B4-BE49-F238E27FC236}">
                <a16:creationId xmlns:a16="http://schemas.microsoft.com/office/drawing/2014/main" id="{B166054C-A5FF-632E-8AFF-A18EEF1E2F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6076" y="471218"/>
            <a:ext cx="8087751" cy="5127724"/>
          </a:xfrm>
          <a:prstGeom prst="rect">
            <a:avLst/>
          </a:prstGeom>
          <a:noFill/>
          <a:ln>
            <a:noFill/>
          </a:ln>
        </p:spPr>
      </p:pic>
    </p:spTree>
    <p:extLst>
      <p:ext uri="{BB962C8B-B14F-4D97-AF65-F5344CB8AC3E}">
        <p14:creationId xmlns:p14="http://schemas.microsoft.com/office/powerpoint/2010/main" val="1179235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E2E27F-2630-ED16-A1C7-8C95BF2005E2}"/>
              </a:ext>
            </a:extLst>
          </p:cNvPr>
          <p:cNvSpPr txBox="1"/>
          <p:nvPr/>
        </p:nvSpPr>
        <p:spPr>
          <a:xfrm>
            <a:off x="0" y="598668"/>
            <a:ext cx="9932300" cy="5736250"/>
          </a:xfrm>
          <a:prstGeom prst="rect">
            <a:avLst/>
          </a:prstGeom>
          <a:noFill/>
        </p:spPr>
        <p:txBody>
          <a:bodyPr wrap="square">
            <a:spAutoFit/>
          </a:bodyPr>
          <a:lstStyle/>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User: </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1.1	Input Model:</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 user must provide input values for the certain fields in order to get results.</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1.2	View Results:</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view’s the generated results from the model.</a:t>
            </a:r>
          </a:p>
          <a:p>
            <a:pPr lvl="0">
              <a:lnSpc>
                <a:spcPct val="150000"/>
              </a:lnSpc>
              <a:buClr>
                <a:srgbClr val="000000"/>
              </a:buClr>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System</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2.1	Pre-processing:</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Data need to be pre-processed according the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Liabrary</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2.2	Generated Score:</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Here generate the result</a:t>
            </a:r>
          </a:p>
          <a:p>
            <a:pPr marL="457200">
              <a:lnSpc>
                <a:spcPct val="150000"/>
              </a:lnSpc>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100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19FDAFE-55EF-D24D-8AD8-026344D7CD0B}"/>
              </a:ext>
            </a:extLst>
          </p:cNvPr>
          <p:cNvSpPr txBox="1"/>
          <p:nvPr/>
        </p:nvSpPr>
        <p:spPr>
          <a:xfrm>
            <a:off x="4375053" y="-225084"/>
            <a:ext cx="6105378" cy="823752"/>
          </a:xfrm>
          <a:prstGeom prst="rect">
            <a:avLst/>
          </a:prstGeom>
          <a:noFill/>
        </p:spPr>
        <p:txBody>
          <a:bodyPr wrap="square">
            <a:spAutoFit/>
          </a:bodyPr>
          <a:lstStyle/>
          <a:p>
            <a:pPr>
              <a:lnSpc>
                <a:spcPct val="150000"/>
              </a:lnSpc>
            </a:pPr>
            <a:r>
              <a:rPr lang="en-US" sz="3600" b="1" dirty="0">
                <a:solidFill>
                  <a:schemeClr val="tx2"/>
                </a:solidFill>
                <a:latin typeface="Times New Roman" panose="02020603050405020304" pitchFamily="18" charset="0"/>
                <a:cs typeface="Times New Roman" panose="02020603050405020304" pitchFamily="18" charset="0"/>
              </a:rPr>
              <a:t>MODULES</a:t>
            </a:r>
          </a:p>
        </p:txBody>
      </p:sp>
    </p:spTree>
    <p:extLst>
      <p:ext uri="{BB962C8B-B14F-4D97-AF65-F5344CB8AC3E}">
        <p14:creationId xmlns:p14="http://schemas.microsoft.com/office/powerpoint/2010/main" val="1660669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0"/>
            <a:ext cx="8911687" cy="518616"/>
          </a:xfrm>
        </p:spPr>
        <p:txBody>
          <a:bodyPr>
            <a:noAutofit/>
          </a:bodyPr>
          <a:lstStyle/>
          <a:p>
            <a:pPr algn="ctr"/>
            <a:r>
              <a:rPr lang="en-US" b="1" dirty="0">
                <a:solidFill>
                  <a:schemeClr val="tx2"/>
                </a:solidFill>
                <a:latin typeface="Times New Roman" panose="02020603050405020304" pitchFamily="18" charset="0"/>
                <a:cs typeface="Times New Roman" panose="02020603050405020304" pitchFamily="18" charset="0"/>
              </a:rPr>
              <a:t>REFERENCES</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4214" y="518616"/>
            <a:ext cx="11468241" cy="6339384"/>
          </a:xfrm>
        </p:spPr>
        <p:txBody>
          <a:bodyPr>
            <a:noAutofit/>
          </a:bodyPr>
          <a:lstStyle/>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 Bar-Hillel, Y. (1951). The present state of research on mechanical translation. American Documentation 2 (4): 229-237.</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2. Bar-Hillel, Y. (1960). The present status of automatic translation of languages. Advances in Computers 1: 91-163.</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3. Beyer, R. T. (1965). Hurdling the language barrier. Physics Today 18 (1): 46-52.</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4. Birch, A., Osborne, M. (2011). Reordering metrics for MT.</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5. </a:t>
            </a:r>
            <a:r>
              <a:rPr lang="en-US" sz="2000" dirty="0" err="1">
                <a:solidFill>
                  <a:srgbClr val="000000"/>
                </a:solidFill>
                <a:effectLst/>
                <a:latin typeface="Times New Roman" panose="02020603050405020304" pitchFamily="18" charset="0"/>
                <a:ea typeface="Times New Roman" panose="02020603050405020304" pitchFamily="18" charset="0"/>
              </a:rPr>
              <a:t>Bisbey</a:t>
            </a:r>
            <a:r>
              <a:rPr lang="en-US" sz="2000" dirty="0">
                <a:solidFill>
                  <a:srgbClr val="000000"/>
                </a:solidFill>
                <a:effectLst/>
                <a:latin typeface="Times New Roman" panose="02020603050405020304" pitchFamily="18" charset="0"/>
                <a:ea typeface="Times New Roman" panose="02020603050405020304" pitchFamily="18" charset="0"/>
              </a:rPr>
              <a:t>, R., Kay, M. (1972). The MIND translation system: a study in man-machine collaboration. Technical Report P-4786, Rand Corp.</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6. </a:t>
            </a:r>
            <a:r>
              <a:rPr lang="en-US" sz="2000" dirty="0" err="1">
                <a:solidFill>
                  <a:srgbClr val="000000"/>
                </a:solidFill>
                <a:effectLst/>
                <a:latin typeface="Times New Roman" panose="02020603050405020304" pitchFamily="18" charset="0"/>
                <a:ea typeface="Times New Roman" panose="02020603050405020304" pitchFamily="18" charset="0"/>
              </a:rPr>
              <a:t>Carbonell</a:t>
            </a:r>
            <a:r>
              <a:rPr lang="en-US" sz="2000" dirty="0">
                <a:solidFill>
                  <a:srgbClr val="000000"/>
                </a:solidFill>
                <a:effectLst/>
                <a:latin typeface="Times New Roman" panose="02020603050405020304" pitchFamily="18" charset="0"/>
                <a:ea typeface="Times New Roman" panose="02020603050405020304" pitchFamily="18" charset="0"/>
              </a:rPr>
              <a:t>, J. (1970). AI in CAI: An artificial-intelligence approach to computer-assisted instruction. IEEE Transactions on Man-Machine Systems 11 (4): 190-202.</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7. Card, S. K., Moran, T. P., Newell, A. (1983). The Psychology of Human-Computer Interaction. Lawrence Erlbaum Associates.</a:t>
            </a:r>
          </a:p>
          <a:p>
            <a:pPr marL="0" indent="0" algn="just">
              <a:lnSpc>
                <a:spcPct val="150000"/>
              </a:lnSpc>
              <a:buNone/>
            </a:pP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50379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0"/>
            <a:ext cx="10185009" cy="6961970"/>
          </a:xfrm>
          <a:prstGeom prst="rect">
            <a:avLst/>
          </a:prstGeom>
        </p:spPr>
        <p:txBody>
          <a:bodyPr wrap="square">
            <a:spAutoFit/>
          </a:bodyPr>
          <a:lstStyle/>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8. Church, K. W., </a:t>
            </a:r>
            <a:r>
              <a:rPr lang="en-US" sz="2000" dirty="0" err="1">
                <a:solidFill>
                  <a:srgbClr val="000000"/>
                </a:solidFill>
                <a:effectLst/>
                <a:latin typeface="Times New Roman" panose="02020603050405020304" pitchFamily="18" charset="0"/>
                <a:ea typeface="Times New Roman" panose="02020603050405020304" pitchFamily="18" charset="0"/>
              </a:rPr>
              <a:t>Hovy</a:t>
            </a:r>
            <a:r>
              <a:rPr lang="en-US" sz="2000" dirty="0">
                <a:solidFill>
                  <a:srgbClr val="000000"/>
                </a:solidFill>
                <a:effectLst/>
                <a:latin typeface="Times New Roman" panose="02020603050405020304" pitchFamily="18" charset="0"/>
                <a:ea typeface="Times New Roman" panose="02020603050405020304" pitchFamily="18" charset="0"/>
              </a:rPr>
              <a:t>, E. (1993). Good applications for crummy machine translation. Machine Translation 8: 239-258.</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9. </a:t>
            </a:r>
            <a:r>
              <a:rPr lang="en-US" sz="2000" dirty="0" err="1">
                <a:solidFill>
                  <a:srgbClr val="000000"/>
                </a:solidFill>
                <a:effectLst/>
                <a:latin typeface="Times New Roman" panose="02020603050405020304" pitchFamily="18" charset="0"/>
                <a:ea typeface="Times New Roman" panose="02020603050405020304" pitchFamily="18" charset="0"/>
              </a:rPr>
              <a:t>Debons</a:t>
            </a:r>
            <a:r>
              <a:rPr lang="en-US" sz="2000" dirty="0">
                <a:solidFill>
                  <a:srgbClr val="000000"/>
                </a:solidFill>
                <a:effectLst/>
                <a:latin typeface="Times New Roman" panose="02020603050405020304" pitchFamily="18" charset="0"/>
                <a:ea typeface="Times New Roman" panose="02020603050405020304" pitchFamily="18" charset="0"/>
              </a:rPr>
              <a:t>, A., Cameron, W. J. (Eds.) (1975). Perspectives in Information Science, Volume 10 of the NATO Advanced Study Institutes Series. Springer.</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10. </a:t>
            </a:r>
            <a:r>
              <a:rPr lang="en-US" sz="2000" dirty="0" err="1">
                <a:solidFill>
                  <a:srgbClr val="000000"/>
                </a:solidFill>
                <a:effectLst/>
                <a:latin typeface="Times New Roman" panose="02020603050405020304" pitchFamily="18" charset="0"/>
                <a:ea typeface="Times New Roman" panose="02020603050405020304" pitchFamily="18" charset="0"/>
              </a:rPr>
              <a:t>Denkowski</a:t>
            </a:r>
            <a:r>
              <a:rPr lang="en-US" sz="2000" dirty="0">
                <a:solidFill>
                  <a:srgbClr val="000000"/>
                </a:solidFill>
                <a:effectLst/>
                <a:latin typeface="Times New Roman" panose="02020603050405020304" pitchFamily="18" charset="0"/>
                <a:ea typeface="Times New Roman" panose="02020603050405020304" pitchFamily="18" charset="0"/>
              </a:rPr>
              <a:t>, M., </a:t>
            </a:r>
            <a:r>
              <a:rPr lang="en-US" sz="2000" dirty="0" err="1">
                <a:solidFill>
                  <a:srgbClr val="000000"/>
                </a:solidFill>
                <a:effectLst/>
                <a:latin typeface="Times New Roman" panose="02020603050405020304" pitchFamily="18" charset="0"/>
                <a:ea typeface="Times New Roman" panose="02020603050405020304" pitchFamily="18" charset="0"/>
              </a:rPr>
              <a:t>Lavie</a:t>
            </a:r>
            <a:r>
              <a:rPr lang="en-US" sz="2000" dirty="0">
                <a:solidFill>
                  <a:srgbClr val="000000"/>
                </a:solidFill>
                <a:effectLst/>
                <a:latin typeface="Times New Roman" panose="02020603050405020304" pitchFamily="18" charset="0"/>
                <a:ea typeface="Times New Roman" panose="02020603050405020304" pitchFamily="18" charset="0"/>
              </a:rPr>
              <a:t>, A, </a:t>
            </a:r>
            <a:r>
              <a:rPr lang="en-US" sz="2000" dirty="0" err="1">
                <a:solidFill>
                  <a:srgbClr val="000000"/>
                </a:solidFill>
                <a:effectLst/>
                <a:latin typeface="Times New Roman" panose="02020603050405020304" pitchFamily="18" charset="0"/>
                <a:ea typeface="Times New Roman" panose="02020603050405020304" pitchFamily="18" charset="0"/>
              </a:rPr>
              <a:t>Lacruz</a:t>
            </a:r>
            <a:r>
              <a:rPr lang="en-US" sz="2000" dirty="0">
                <a:solidFill>
                  <a:srgbClr val="000000"/>
                </a:solidFill>
                <a:effectLst/>
                <a:latin typeface="Times New Roman" panose="02020603050405020304" pitchFamily="18" charset="0"/>
                <a:ea typeface="Times New Roman" panose="02020603050405020304" pitchFamily="18" charset="0"/>
              </a:rPr>
              <a:t>, I., Dyer, C. (2014). Real time adaptive machine translation for post-editing with </a:t>
            </a:r>
            <a:r>
              <a:rPr lang="en-US" sz="2000" dirty="0" err="1">
                <a:solidFill>
                  <a:srgbClr val="000000"/>
                </a:solidFill>
                <a:effectLst/>
                <a:latin typeface="Times New Roman" panose="02020603050405020304" pitchFamily="18" charset="0"/>
                <a:ea typeface="Times New Roman" panose="02020603050405020304" pitchFamily="18" charset="0"/>
              </a:rPr>
              <a:t>cdec</a:t>
            </a:r>
            <a:r>
              <a:rPr lang="en-US" sz="2000" dirty="0">
                <a:solidFill>
                  <a:srgbClr val="000000"/>
                </a:solidFill>
                <a:effectLst/>
                <a:latin typeface="Times New Roman" panose="02020603050405020304" pitchFamily="18" charset="0"/>
                <a:ea typeface="Times New Roman" panose="02020603050405020304" pitchFamily="18" charset="0"/>
              </a:rPr>
              <a:t> and </a:t>
            </a:r>
            <a:r>
              <a:rPr lang="en-US" sz="2000" dirty="0" err="1">
                <a:solidFill>
                  <a:srgbClr val="000000"/>
                </a:solidFill>
                <a:effectLst/>
                <a:latin typeface="Times New Roman" panose="02020603050405020304" pitchFamily="18" charset="0"/>
                <a:ea typeface="Times New Roman" panose="02020603050405020304" pitchFamily="18" charset="0"/>
              </a:rPr>
              <a:t>TransCenter</a:t>
            </a:r>
            <a:r>
              <a:rPr lang="en-US" sz="2000" dirty="0">
                <a:solidFill>
                  <a:srgbClr val="000000"/>
                </a:solidFill>
                <a:effectLst/>
                <a:latin typeface="Times New Roman" panose="02020603050405020304" pitchFamily="18" charset="0"/>
                <a:ea typeface="Times New Roman" panose="02020603050405020304" pitchFamily="18" charset="0"/>
              </a:rPr>
              <a:t>. In Proceedings of the EACL 2014 Workshop on Humans and Computer-assisted Translation.</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11. Engelbart, D. C. (1962). Augmenting human intellect: A conceptual framework. Technical report, SRI Summary Report AFOSR-3223.</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12. Foster, G., </a:t>
            </a:r>
            <a:r>
              <a:rPr lang="en-US" sz="2000" dirty="0" err="1">
                <a:solidFill>
                  <a:srgbClr val="000000"/>
                </a:solidFill>
                <a:effectLst/>
                <a:latin typeface="Times New Roman" panose="02020603050405020304" pitchFamily="18" charset="0"/>
                <a:ea typeface="Times New Roman" panose="02020603050405020304" pitchFamily="18" charset="0"/>
              </a:rPr>
              <a:t>Langlais</a:t>
            </a:r>
            <a:r>
              <a:rPr lang="en-US" sz="2000" dirty="0">
                <a:solidFill>
                  <a:srgbClr val="000000"/>
                </a:solidFill>
                <a:effectLst/>
                <a:latin typeface="Times New Roman" panose="02020603050405020304" pitchFamily="18" charset="0"/>
                <a:ea typeface="Times New Roman" panose="02020603050405020304" pitchFamily="18" charset="0"/>
              </a:rPr>
              <a:t>, P., Lapalme, G. (2002). </a:t>
            </a:r>
            <a:r>
              <a:rPr lang="en-US" sz="2000" dirty="0" err="1">
                <a:solidFill>
                  <a:srgbClr val="000000"/>
                </a:solidFill>
                <a:effectLst/>
                <a:latin typeface="Times New Roman" panose="02020603050405020304" pitchFamily="18" charset="0"/>
                <a:ea typeface="Times New Roman" panose="02020603050405020304" pitchFamily="18" charset="0"/>
              </a:rPr>
              <a:t>TransType</a:t>
            </a:r>
            <a:r>
              <a:rPr lang="en-US" sz="2000" dirty="0">
                <a:solidFill>
                  <a:srgbClr val="000000"/>
                </a:solidFill>
                <a:effectLst/>
                <a:latin typeface="Times New Roman" panose="02020603050405020304" pitchFamily="18" charset="0"/>
                <a:ea typeface="Times New Roman" panose="02020603050405020304" pitchFamily="18" charset="0"/>
              </a:rPr>
              <a:t>: text prediction for translators. In Proceedings of ACL Demonstrations, 93-94.</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13. Green, S., Wang, S., Chuang, J., Heer, J. Schuster, S., Manning, C. D. (2014). Human effort and machine learnability in computer aided translation. In Proceedings of EMNLP, 1225-1236.</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14. </a:t>
            </a:r>
            <a:r>
              <a:rPr lang="en-US" sz="2000" dirty="0" err="1">
                <a:solidFill>
                  <a:srgbClr val="000000"/>
                </a:solidFill>
                <a:effectLst/>
                <a:latin typeface="Times New Roman" panose="02020603050405020304" pitchFamily="18" charset="0"/>
                <a:ea typeface="Times New Roman" panose="02020603050405020304" pitchFamily="18" charset="0"/>
              </a:rPr>
              <a:t>Grudin</a:t>
            </a:r>
            <a:r>
              <a:rPr lang="en-US" sz="2000" dirty="0">
                <a:solidFill>
                  <a:srgbClr val="000000"/>
                </a:solidFill>
                <a:effectLst/>
                <a:latin typeface="Times New Roman" panose="02020603050405020304" pitchFamily="18" charset="0"/>
                <a:ea typeface="Times New Roman" panose="02020603050405020304" pitchFamily="18" charset="0"/>
              </a:rPr>
              <a:t>, J. (2009). AI and HCI: Two fields divided by a common focus. AI Magazine 30 (4), 48-57.</a:t>
            </a:r>
          </a:p>
        </p:txBody>
      </p:sp>
    </p:spTree>
    <p:extLst>
      <p:ext uri="{BB962C8B-B14F-4D97-AF65-F5344CB8AC3E}">
        <p14:creationId xmlns:p14="http://schemas.microsoft.com/office/powerpoint/2010/main" val="33091817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70</TotalTime>
  <Words>3310</Words>
  <Application>Microsoft Office PowerPoint</Application>
  <PresentationFormat>Widescreen</PresentationFormat>
  <Paragraphs>193</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PowerPoint Presentation</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Adithya M</dc:creator>
  <cp:lastModifiedBy>Adithya M</cp:lastModifiedBy>
  <cp:revision>19</cp:revision>
  <dcterms:created xsi:type="dcterms:W3CDTF">2023-10-23T07:42:57Z</dcterms:created>
  <dcterms:modified xsi:type="dcterms:W3CDTF">2024-04-06T13:12:47Z</dcterms:modified>
</cp:coreProperties>
</file>