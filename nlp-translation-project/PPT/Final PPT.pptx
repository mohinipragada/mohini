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02" r:id="rId1"/>
  </p:sldMasterIdLst>
  <p:sldIdLst>
    <p:sldId id="259" r:id="rId2"/>
    <p:sldId id="260" r:id="rId3"/>
    <p:sldId id="261" r:id="rId4"/>
    <p:sldId id="275" r:id="rId5"/>
    <p:sldId id="276" r:id="rId6"/>
    <p:sldId id="264" r:id="rId7"/>
    <p:sldId id="377" r:id="rId8"/>
    <p:sldId id="332" r:id="rId9"/>
    <p:sldId id="345" r:id="rId10"/>
    <p:sldId id="333" r:id="rId11"/>
    <p:sldId id="334" r:id="rId12"/>
    <p:sldId id="342" r:id="rId13"/>
    <p:sldId id="278" r:id="rId14"/>
    <p:sldId id="266" r:id="rId15"/>
    <p:sldId id="267" r:id="rId16"/>
    <p:sldId id="268" r:id="rId17"/>
    <p:sldId id="341" r:id="rId18"/>
    <p:sldId id="269" r:id="rId19"/>
    <p:sldId id="282" r:id="rId20"/>
    <p:sldId id="283" r:id="rId21"/>
    <p:sldId id="284" r:id="rId22"/>
    <p:sldId id="346" r:id="rId23"/>
    <p:sldId id="307" r:id="rId24"/>
    <p:sldId id="308" r:id="rId25"/>
    <p:sldId id="309" r:id="rId26"/>
    <p:sldId id="311" r:id="rId27"/>
    <p:sldId id="313" r:id="rId28"/>
    <p:sldId id="315" r:id="rId29"/>
    <p:sldId id="317" r:id="rId30"/>
    <p:sldId id="318" r:id="rId31"/>
    <p:sldId id="319" r:id="rId32"/>
    <p:sldId id="321" r:id="rId33"/>
    <p:sldId id="322" r:id="rId34"/>
    <p:sldId id="323" r:id="rId35"/>
    <p:sldId id="326" r:id="rId36"/>
    <p:sldId id="325" r:id="rId37"/>
    <p:sldId id="347" r:id="rId38"/>
    <p:sldId id="382" r:id="rId39"/>
    <p:sldId id="348" r:id="rId40"/>
    <p:sldId id="350" r:id="rId41"/>
    <p:sldId id="353" r:id="rId42"/>
    <p:sldId id="373" r:id="rId43"/>
    <p:sldId id="329" r:id="rId44"/>
    <p:sldId id="330" r:id="rId45"/>
    <p:sldId id="304" r:id="rId46"/>
    <p:sldId id="376"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91F19"/>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29" autoAdjust="0"/>
    <p:restoredTop sz="93957" autoAdjust="0"/>
  </p:normalViewPr>
  <p:slideViewPr>
    <p:cSldViewPr snapToGrid="0">
      <p:cViewPr varScale="1">
        <p:scale>
          <a:sx n="68" d="100"/>
          <a:sy n="68" d="100"/>
        </p:scale>
        <p:origin x="67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4/6/2024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403690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4/6/2024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2117650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4/6/2024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2273942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4FB319-408F-4B57-95FC-213113A36553}" type="datetimeFigureOut">
              <a:rPr lang="en-US" smtClean="0"/>
              <a:t>4/6/2024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287039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4FB319-408F-4B57-95FC-213113A36553}" type="datetimeFigureOut">
              <a:rPr lang="en-US" smtClean="0"/>
              <a:t>4/6/2024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644047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4FB319-408F-4B57-95FC-213113A36553}" type="datetimeFigureOut">
              <a:rPr lang="en-US" smtClean="0"/>
              <a:t>4/6/2024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2666897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4FB319-408F-4B57-95FC-213113A36553}" type="datetimeFigureOut">
              <a:rPr lang="en-US" smtClean="0"/>
              <a:t>4/6/2024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10836057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4FB319-408F-4B57-95FC-213113A36553}" type="datetimeFigureOut">
              <a:rPr lang="en-US" smtClean="0"/>
              <a:t>4/6/2024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3083297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4FB319-408F-4B57-95FC-213113A36553}" type="datetimeFigureOut">
              <a:rPr lang="en-US" smtClean="0"/>
              <a:t>4/6/2024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1501396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4/6/2024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18301842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4/6/2024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9819393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4/6/2024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29624537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4/6/2024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395645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4/6/2024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4183657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4/6/2024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17342541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4/6/2024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554334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24FB319-408F-4B57-95FC-213113A36553}" type="datetimeFigureOut">
              <a:rPr lang="en-US" smtClean="0"/>
              <a:t>4/6/2024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0AE3085-DAF0-4F9D-B196-6B0FE55CC83D}" type="slidenum">
              <a:rPr lang="en-US" smtClean="0"/>
              <a:t>‹#›</a:t>
            </a:fld>
            <a:endParaRPr lang="en-US"/>
          </a:p>
        </p:txBody>
      </p:sp>
    </p:spTree>
    <p:extLst>
      <p:ext uri="{BB962C8B-B14F-4D97-AF65-F5344CB8AC3E}">
        <p14:creationId xmlns:p14="http://schemas.microsoft.com/office/powerpoint/2010/main" val="3112248288"/>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47447" y="2971535"/>
            <a:ext cx="7863840" cy="914930"/>
          </a:xfrm>
          <a:prstGeom prst="rect">
            <a:avLst/>
          </a:prstGeom>
        </p:spPr>
        <p:txBody>
          <a:bodyPr wrap="square">
            <a:spAutoFit/>
          </a:bodyPr>
          <a:lstStyle/>
          <a:p>
            <a:pPr algn="ctr">
              <a:lnSpc>
                <a:spcPct val="115000"/>
              </a:lnSpc>
              <a:spcAft>
                <a:spcPts val="800"/>
              </a:spcAft>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Natural language translation engine for announcements and information dissemination at stations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984068" y="832898"/>
            <a:ext cx="6096000" cy="646331"/>
          </a:xfrm>
          <a:prstGeom prst="rect">
            <a:avLst/>
          </a:prstGeom>
        </p:spPr>
        <p:txBody>
          <a:bodyPr>
            <a:spAutoFit/>
          </a:bodyPr>
          <a:lstStyle/>
          <a:p>
            <a:pPr>
              <a:buClr>
                <a:srgbClr val="000000"/>
              </a:buClr>
              <a:buSzPct val="100000"/>
            </a:pPr>
            <a:r>
              <a:rPr lang="en-US" altLang="en-US" b="1" dirty="0">
                <a:latin typeface="Times New Roman" panose="02020603050405020304" pitchFamily="18" charset="0"/>
                <a:cs typeface="Times New Roman" panose="02020603050405020304" pitchFamily="18" charset="0"/>
              </a:rPr>
              <a:t>Domain  ML</a:t>
            </a:r>
          </a:p>
          <a:p>
            <a:pPr>
              <a:buClr>
                <a:srgbClr val="000000"/>
              </a:buClr>
              <a:buSzPct val="100000"/>
            </a:pPr>
            <a:r>
              <a:rPr lang="en-US" altLang="en-US" b="1" dirty="0">
                <a:latin typeface="Times New Roman" panose="02020603050405020304" pitchFamily="18" charset="0"/>
                <a:cs typeface="Times New Roman" panose="02020603050405020304" pitchFamily="18" charset="0"/>
              </a:rPr>
              <a:t>Technology: Python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689775" y="733167"/>
            <a:ext cx="8596668" cy="68258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tx1"/>
                </a:solidFill>
              </a:rPr>
              <a:t>                            INDEX</a:t>
            </a:r>
          </a:p>
        </p:txBody>
      </p:sp>
      <p:sp>
        <p:nvSpPr>
          <p:cNvPr id="3" name="Content Placeholder 2"/>
          <p:cNvSpPr txBox="1"/>
          <p:nvPr/>
        </p:nvSpPr>
        <p:spPr>
          <a:xfrm>
            <a:off x="1436954" y="1087395"/>
            <a:ext cx="3957667" cy="5082746"/>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Abstract</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Objective of project</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Problem Statement</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Scope &amp; Motivation</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Introduction</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Literature survey</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Existing Method</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Disadvantages</a:t>
            </a:r>
          </a:p>
          <a:p>
            <a:pPr lvl="2">
              <a:lnSpc>
                <a:spcPct val="170000"/>
              </a:lnSpc>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768350" lvl="2" indent="0">
              <a:lnSpc>
                <a:spcPct val="170000"/>
              </a:lnSpc>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
        <p:nvSpPr>
          <p:cNvPr id="4" name="Content Placeholder 2"/>
          <p:cNvSpPr txBox="1"/>
          <p:nvPr/>
        </p:nvSpPr>
        <p:spPr>
          <a:xfrm>
            <a:off x="5394622" y="1348693"/>
            <a:ext cx="5561701" cy="482173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Proposed method</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Advantages</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Project Flow	</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Hardware and Software Requirements</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Architecture</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Modules</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UML Diagram</a:t>
            </a:r>
          </a:p>
          <a:p>
            <a:pPr lvl="2">
              <a:lnSpc>
                <a:spcPct val="17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References</a:t>
            </a:r>
          </a:p>
          <a:p>
            <a:pPr marL="768350" lvl="2" indent="0">
              <a:lnSpc>
                <a:spcPct val="170000"/>
              </a:lnSpc>
              <a:buNone/>
            </a:pPr>
            <a:r>
              <a:rPr lang="en-US" sz="18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v"/>
            </a:pP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001305" y="100521"/>
            <a:ext cx="8596668" cy="8906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ABSTRACT</a:t>
            </a:r>
          </a:p>
        </p:txBody>
      </p:sp>
      <p:sp>
        <p:nvSpPr>
          <p:cNvPr id="3" name="Rectangle 2"/>
          <p:cNvSpPr/>
          <p:nvPr/>
        </p:nvSpPr>
        <p:spPr>
          <a:xfrm>
            <a:off x="286926" y="1207293"/>
            <a:ext cx="10728078" cy="4756238"/>
          </a:xfrm>
          <a:prstGeom prst="rect">
            <a:avLst/>
          </a:prstGeom>
        </p:spPr>
        <p:txBody>
          <a:bodyPr wrap="square">
            <a:spAutoFit/>
          </a:bodyPr>
          <a:lstStyle/>
          <a:p>
            <a:pPr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This project integrates the Google Text-to-Speech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Python library to develop a multilingual information dissemination system for Indian railway stations.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renowned for its natural-sounding speech and extensive language support, including various Indian dialects, plays a key role in converting text to audible announcements. The system is designed to seamlessly translate written information into speech, enhancing accessibility and convenience for passengers. It incorporates real-time text-to-speech conversion, ensuring dynamic and accurate information delivery. Essential for stations, this solution addresses the need for clear communication in noisy environments and is adaptable for mobile platforms, making it a robust tool for modern, efficient railway operations.</a:t>
            </a:r>
          </a:p>
          <a:p>
            <a:pPr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Keywords: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Multilingual, Indian Railways, Text-to-Speech, Information Dissemination, Real-Time Conversion, Speech Synthesis, Python, Accessibility, Noisy Environments, Mobile Integration.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854534" y="32577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OBJECTIVE OF PROJECT</a:t>
            </a:r>
          </a:p>
        </p:txBody>
      </p:sp>
      <p:sp>
        <p:nvSpPr>
          <p:cNvPr id="4" name="TextBox 3"/>
          <p:cNvSpPr txBox="1"/>
          <p:nvPr/>
        </p:nvSpPr>
        <p:spPr>
          <a:xfrm>
            <a:off x="555625" y="1524408"/>
            <a:ext cx="9194487" cy="3268652"/>
          </a:xfrm>
          <a:prstGeom prst="rect">
            <a:avLst/>
          </a:prstGeom>
          <a:noFill/>
        </p:spPr>
        <p:txBody>
          <a:bodyPr wrap="square" rtlCol="0">
            <a:spAutoFit/>
          </a:bodyPr>
          <a:lstStyle/>
          <a:p>
            <a:pPr algn="just">
              <a:lnSpc>
                <a:spcPct val="150000"/>
              </a:lnSpc>
              <a:spcAft>
                <a:spcPts val="800"/>
              </a:spcAft>
            </a:pP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The objective of this project is to develop a sophisticated natural language translation engine utilizing the Google Text-to-Speech (</a:t>
            </a:r>
            <a:r>
              <a:rPr lang="en-US" sz="20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gTTS</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Python library, aimed at revolutionizing announcements and information dissemination across Indian railway stations. By facilitating multilingual speech synthesis, the system seeks to enhance passenger experience through real-time, accessible, and clear communication, particularly in noisy environments, thereby improving operational efficiency and inclusivity in India's vast railway network.</a:t>
            </a:r>
            <a:endPar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776594" y="76168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PROBLEM STATEMENT</a:t>
            </a:r>
          </a:p>
        </p:txBody>
      </p:sp>
      <p:sp>
        <p:nvSpPr>
          <p:cNvPr id="4" name="TextBox 3"/>
          <p:cNvSpPr txBox="1"/>
          <p:nvPr/>
        </p:nvSpPr>
        <p:spPr>
          <a:xfrm>
            <a:off x="889135" y="2253357"/>
            <a:ext cx="9014099" cy="2812950"/>
          </a:xfrm>
          <a:prstGeom prst="rect">
            <a:avLst/>
          </a:prstGeom>
          <a:noFill/>
        </p:spPr>
        <p:txBody>
          <a:bodyPr wrap="square" rtlCol="0">
            <a:spAutoFit/>
          </a:bodyPr>
          <a:lstStyle/>
          <a:p>
            <a:pPr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In Indian railway stations, passengers often face challenges in receiving clear, timely information due to language barriers and noisy environments. The existing systems struggle to cater to the diverse linguistic landscape and dynamic nature of railway operations. This project addresses the need for a versatile, real-time information dissemination system that leverages the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library for natural-sounding, multilingual announcements, enhancing accessibility and passenger experience.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1005" y="2025506"/>
            <a:ext cx="9385814" cy="2806987"/>
          </a:xfrm>
          <a:prstGeom prst="rect">
            <a:avLst/>
          </a:prstGeom>
        </p:spPr>
        <p:txBody>
          <a:bodyPr wrap="square">
            <a:spAutoFit/>
          </a:bodyPr>
          <a:lstStyle/>
          <a:p>
            <a:pPr algn="just">
              <a:lnSpc>
                <a:spcPct val="150000"/>
              </a:lnSpc>
              <a:spcBef>
                <a:spcPts val="1200"/>
              </a:spcBef>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motivation behind "Natural Language Translation Engine for Announcements and Information Dissemination at Stations" stems from the critical need to enhance passenger experience in Indian railways. By leveraging the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library for multilingual speech synthesis, this project aims to bridge communication gaps in noisy environments, ensuring accessible, dynamic, and accurate information delivery, thus significantly improving efficiency and convenience in railway operations.</a:t>
            </a:r>
            <a:endParaRPr lang="en-IN"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028797" y="44866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MOTIVATION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4A006A-7943-3D26-45C3-6F935F8F236F}"/>
              </a:ext>
            </a:extLst>
          </p:cNvPr>
          <p:cNvSpPr txBox="1"/>
          <p:nvPr/>
        </p:nvSpPr>
        <p:spPr>
          <a:xfrm>
            <a:off x="422031" y="1653026"/>
            <a:ext cx="9172135" cy="2812950"/>
          </a:xfrm>
          <a:prstGeom prst="rect">
            <a:avLst/>
          </a:prstGeom>
          <a:noFill/>
        </p:spPr>
        <p:txBody>
          <a:bodyPr wrap="square">
            <a:spAutoFit/>
          </a:bodyPr>
          <a:lstStyle/>
          <a:p>
            <a:pPr algn="just">
              <a:lnSpc>
                <a:spcPct val="150000"/>
              </a:lnSpc>
              <a:spcBef>
                <a:spcPts val="1200"/>
              </a:spcBef>
              <a:spcAft>
                <a:spcPts val="800"/>
              </a:spcAf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scope of this project encompasses the development of a multilingual text-to-speech system for Indian railway stations, utilizing the </a:t>
            </a:r>
            <a:r>
              <a:rPr lang="en-US" sz="20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gTTS</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Python library for real-time information conversion into audible announcements. It focuses on enhancing passenger accessibility and convenience by supporting various Indian dialects, ensuring clear communication in noisy settings, and offering mobile platform integration for improved railway operational efficiency.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D62727E8-A4D5-63A3-AA87-6B336617E148}"/>
              </a:ext>
            </a:extLst>
          </p:cNvPr>
          <p:cNvSpPr txBox="1"/>
          <p:nvPr/>
        </p:nvSpPr>
        <p:spPr>
          <a:xfrm>
            <a:off x="4009291" y="532786"/>
            <a:ext cx="6105378" cy="646331"/>
          </a:xfrm>
          <a:prstGeom prst="rect">
            <a:avLst/>
          </a:prstGeom>
          <a:noFill/>
        </p:spPr>
        <p:txBody>
          <a:bodyPr wrap="square">
            <a:spAutoFit/>
          </a:bodyPr>
          <a:lstStyle/>
          <a:p>
            <a:r>
              <a:rPr lang="en-US" sz="3600" b="1" dirty="0">
                <a:solidFill>
                  <a:schemeClr val="tx2"/>
                </a:solidFill>
                <a:latin typeface="Times New Roman" panose="02020603050405020304" pitchFamily="18" charset="0"/>
                <a:cs typeface="Times New Roman" panose="02020603050405020304" pitchFamily="18" charset="0"/>
              </a:rPr>
              <a:t>SCOPE</a:t>
            </a:r>
            <a:endParaRPr lang="en-IN" sz="3600" dirty="0">
              <a:solidFill>
                <a:schemeClr val="tx2"/>
              </a:solidFill>
            </a:endParaRPr>
          </a:p>
        </p:txBody>
      </p:sp>
    </p:spTree>
    <p:extLst>
      <p:ext uri="{BB962C8B-B14F-4D97-AF65-F5344CB8AC3E}">
        <p14:creationId xmlns:p14="http://schemas.microsoft.com/office/powerpoint/2010/main" val="607373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7771" y="188085"/>
            <a:ext cx="4754880" cy="535246"/>
          </a:xfrm>
        </p:spPr>
        <p:txBody>
          <a:bodyPr>
            <a:normAutofit fontScale="90000"/>
          </a:bodyPr>
          <a:lstStyle/>
          <a:p>
            <a:pPr algn="ctr"/>
            <a:r>
              <a:rPr lang="en-US" sz="4000" b="1" dirty="0">
                <a:solidFill>
                  <a:schemeClr val="tx2"/>
                </a:solidFill>
                <a:latin typeface="Times New Roman" panose="02020603050405020304" pitchFamily="18" charset="0"/>
                <a:cs typeface="Times New Roman" panose="02020603050405020304" pitchFamily="18" charset="0"/>
              </a:rPr>
              <a:t>INTRODUCTION</a:t>
            </a:r>
            <a:br>
              <a:rPr lang="en-US" altLang="en-US" sz="2700" b="1"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a:t>
            </a:r>
            <a:br>
              <a:rPr lang="en-US" altLang="en-US"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275409" y="1070363"/>
            <a:ext cx="10120616" cy="5599552"/>
          </a:xfrm>
        </p:spPr>
        <p:txBody>
          <a:bodyPr>
            <a:noAutofit/>
          </a:bodyPr>
          <a:lstStyle/>
          <a:p>
            <a:pPr marL="0" indent="0" algn="just">
              <a:lnSpc>
                <a:spcPct val="150000"/>
              </a:lnSpc>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In the bustling environs of Indian railway stations, where the confluence of diverse languages and dialects presents a unique challenge to effective communication, the need for a robust, multilingual information dissemination system is paramount. This project introduces a cutting-edge solution: a Natural Language Translation Engine for Announcements and Information Dissemination at Stations, leveraging the capabilities of the Google Text-to-Speech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Python library. Known for its natural-sounding speech synthesis and extensive support for a wide array of languages, including a multitude of Indian dialects,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stands at the core of this innovative system. Designed to bridge the communication gap, this system adeptly converts textual information into audible announcements, thereby enhancing accessibility and convenience for passengers. Its cornerstone is the real-time text-to-speech conversion feature, which ensures the delivery of dynamic and accurate information, vital for the ever-changing schedules and updates typical of railway operations. </a:t>
            </a:r>
          </a:p>
        </p:txBody>
      </p:sp>
    </p:spTree>
    <p:extLst>
      <p:ext uri="{BB962C8B-B14F-4D97-AF65-F5344CB8AC3E}">
        <p14:creationId xmlns:p14="http://schemas.microsoft.com/office/powerpoint/2010/main" val="2595292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0591" y="1102177"/>
            <a:ext cx="10142720" cy="4191981"/>
          </a:xfrm>
          <a:prstGeom prst="rect">
            <a:avLst/>
          </a:prstGeom>
        </p:spPr>
        <p:txBody>
          <a:bodyPr wrap="square">
            <a:spAutoFit/>
          </a:bodyPr>
          <a:lstStyle/>
          <a:p>
            <a:pPr marL="0" indent="0" algn="just">
              <a:lnSpc>
                <a:spcPct val="150000"/>
              </a:lnSpc>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This project is not just about addressing the need for clear communication amidst the cacophony of noisy environments; it's also about inclusivity. By incorporating speech synthesis that accommodates various Indian languages, the system ensures that information is accessible to a broader audience, making travel more seamless and less daunting for passengers from different linguistic backgrounds. Moreover, with its adaptability for mobile platforms, the solution proposed herein transcends traditional announcement systems, offering a versatile tool for modern, efficient railway operations. This initiative not only enhances passenger experience but also sets a new standard for public transportation systems in multilingual and multicultural contexts.</a:t>
            </a:r>
          </a:p>
        </p:txBody>
      </p:sp>
    </p:spTree>
    <p:extLst>
      <p:ext uri="{BB962C8B-B14F-4D97-AF65-F5344CB8AC3E}">
        <p14:creationId xmlns:p14="http://schemas.microsoft.com/office/powerpoint/2010/main" val="1139335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703398803"/>
              </p:ext>
            </p:extLst>
          </p:nvPr>
        </p:nvGraphicFramePr>
        <p:xfrm>
          <a:off x="1105351" y="1422791"/>
          <a:ext cx="9581407" cy="4942840"/>
        </p:xfrm>
        <a:graphic>
          <a:graphicData uri="http://schemas.openxmlformats.org/drawingml/2006/table">
            <a:tbl>
              <a:tblPr firstRow="1" bandRow="1">
                <a:tableStyleId>{5C22544A-7EE6-4342-B048-85BDC9FD1C3A}</a:tableStyleId>
              </a:tblPr>
              <a:tblGrid>
                <a:gridCol w="760686">
                  <a:extLst>
                    <a:ext uri="{9D8B030D-6E8A-4147-A177-3AD203B41FA5}">
                      <a16:colId xmlns:a16="http://schemas.microsoft.com/office/drawing/2014/main" val="20000"/>
                    </a:ext>
                  </a:extLst>
                </a:gridCol>
                <a:gridCol w="1368355">
                  <a:extLst>
                    <a:ext uri="{9D8B030D-6E8A-4147-A177-3AD203B41FA5}">
                      <a16:colId xmlns:a16="http://schemas.microsoft.com/office/drawing/2014/main" val="20001"/>
                    </a:ext>
                  </a:extLst>
                </a:gridCol>
                <a:gridCol w="1613453">
                  <a:extLst>
                    <a:ext uri="{9D8B030D-6E8A-4147-A177-3AD203B41FA5}">
                      <a16:colId xmlns:a16="http://schemas.microsoft.com/office/drawing/2014/main" val="20002"/>
                    </a:ext>
                  </a:extLst>
                </a:gridCol>
                <a:gridCol w="1723722">
                  <a:extLst>
                    <a:ext uri="{9D8B030D-6E8A-4147-A177-3AD203B41FA5}">
                      <a16:colId xmlns:a16="http://schemas.microsoft.com/office/drawing/2014/main" val="20003"/>
                    </a:ext>
                  </a:extLst>
                </a:gridCol>
                <a:gridCol w="4115191">
                  <a:extLst>
                    <a:ext uri="{9D8B030D-6E8A-4147-A177-3AD203B41FA5}">
                      <a16:colId xmlns:a16="http://schemas.microsoft.com/office/drawing/2014/main" val="20004"/>
                    </a:ext>
                  </a:extLst>
                </a:gridCol>
              </a:tblGrid>
              <a:tr h="370840">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370840">
                <a:tc>
                  <a:txBody>
                    <a:bodyPr/>
                    <a:lstStyle/>
                    <a:p>
                      <a:pPr algn="just"/>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US" dirty="0">
                          <a:latin typeface="Times New Roman" panose="02020603050405020304" pitchFamily="18" charset="0"/>
                          <a:cs typeface="Times New Roman" panose="02020603050405020304" pitchFamily="18" charset="0"/>
                        </a:rPr>
                        <a:t>1951</a:t>
                      </a:r>
                      <a:endParaRPr lang="en-IN"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Bar-Hillel, Y</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The present state of research on mechanical translation. </a:t>
                      </a:r>
                      <a:endParaRPr lang="en-US" sz="16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800" kern="1200" dirty="0">
                          <a:solidFill>
                            <a:schemeClr val="dk1"/>
                          </a:solidFill>
                          <a:effectLst/>
                          <a:latin typeface="Times New Roman" panose="02020603050405020304" pitchFamily="18" charset="0"/>
                          <a:ea typeface="+mn-ea"/>
                          <a:cs typeface="Times New Roman" panose="02020603050405020304" pitchFamily="18" charset="0"/>
                        </a:rPr>
                        <a:t>Moreover, there's a pressing need for high-speed, albeit potentially lower accuracy, scanning of vast printed materials for various purposes. Bar-Hillel suggests that advancements in MT could address these challenges, offering valuable insights into linguistic communication while facilitating efficient translation and scanning processes. </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pPr algn="just"/>
                      <a:r>
                        <a:rPr lang="en-US">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800" b="0" kern="1200" dirty="0">
                          <a:solidFill>
                            <a:schemeClr val="dk1"/>
                          </a:solidFill>
                          <a:effectLst/>
                          <a:latin typeface="+mn-lt"/>
                          <a:ea typeface="+mn-ea"/>
                          <a:cs typeface="+mn-cs"/>
                        </a:rPr>
                        <a:t>1960</a:t>
                      </a:r>
                      <a:endParaRPr lang="en-IN" b="0"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Bar-Hillel, Y. </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The present status of automatic translation of languages. </a:t>
                      </a:r>
                      <a:endParaRPr lang="en-IN" sz="1600" b="0" dirty="0">
                        <a:latin typeface="Times New Roman" panose="02020603050405020304" pitchFamily="18" charset="0"/>
                        <a:cs typeface="Times New Roman" panose="02020603050405020304" pitchFamily="18" charset="0"/>
                      </a:endParaRPr>
                    </a:p>
                  </a:txBody>
                  <a:tcPr/>
                </a:tc>
                <a:tc>
                  <a:txBody>
                    <a:bodyPr/>
                    <a:lstStyle/>
                    <a:p>
                      <a:r>
                        <a:rPr lang="en-US" sz="1800" kern="1200" dirty="0">
                          <a:solidFill>
                            <a:schemeClr val="dk1"/>
                          </a:solidFill>
                          <a:effectLst/>
                          <a:latin typeface="Times New Roman" panose="02020603050405020304" pitchFamily="18" charset="0"/>
                          <a:ea typeface="+mn-ea"/>
                          <a:cs typeface="Times New Roman" panose="02020603050405020304" pitchFamily="18" charset="0"/>
                        </a:rPr>
                        <a:t>Bar-Hillel also mentions the presence of research centers in England and Italy, highlighting the global interest in MT. Overall, the abstract underscores the growing importance and international engagement in the development of automatic language translation systems. </a:t>
                      </a: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3" name="Title 1"/>
          <p:cNvSpPr txBox="1"/>
          <p:nvPr/>
        </p:nvSpPr>
        <p:spPr>
          <a:xfrm>
            <a:off x="2039815" y="-168813"/>
            <a:ext cx="6414868" cy="84406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167764283"/>
              </p:ext>
            </p:extLst>
          </p:nvPr>
        </p:nvGraphicFramePr>
        <p:xfrm>
          <a:off x="1026944" y="424180"/>
          <a:ext cx="9017389" cy="6009640"/>
        </p:xfrm>
        <a:graphic>
          <a:graphicData uri="http://schemas.openxmlformats.org/drawingml/2006/table">
            <a:tbl>
              <a:tblPr firstRow="1" bandRow="1">
                <a:tableStyleId>{5C22544A-7EE6-4342-B048-85BDC9FD1C3A}</a:tableStyleId>
              </a:tblPr>
              <a:tblGrid>
                <a:gridCol w="699211">
                  <a:extLst>
                    <a:ext uri="{9D8B030D-6E8A-4147-A177-3AD203B41FA5}">
                      <a16:colId xmlns:a16="http://schemas.microsoft.com/office/drawing/2014/main" val="20000"/>
                    </a:ext>
                  </a:extLst>
                </a:gridCol>
                <a:gridCol w="1114783">
                  <a:extLst>
                    <a:ext uri="{9D8B030D-6E8A-4147-A177-3AD203B41FA5}">
                      <a16:colId xmlns:a16="http://schemas.microsoft.com/office/drawing/2014/main" val="20001"/>
                    </a:ext>
                  </a:extLst>
                </a:gridCol>
                <a:gridCol w="1626047">
                  <a:extLst>
                    <a:ext uri="{9D8B030D-6E8A-4147-A177-3AD203B41FA5}">
                      <a16:colId xmlns:a16="http://schemas.microsoft.com/office/drawing/2014/main" val="20002"/>
                    </a:ext>
                  </a:extLst>
                </a:gridCol>
                <a:gridCol w="1778478">
                  <a:extLst>
                    <a:ext uri="{9D8B030D-6E8A-4147-A177-3AD203B41FA5}">
                      <a16:colId xmlns:a16="http://schemas.microsoft.com/office/drawing/2014/main" val="20003"/>
                    </a:ext>
                  </a:extLst>
                </a:gridCol>
                <a:gridCol w="3798870">
                  <a:extLst>
                    <a:ext uri="{9D8B030D-6E8A-4147-A177-3AD203B41FA5}">
                      <a16:colId xmlns:a16="http://schemas.microsoft.com/office/drawing/2014/main" val="20004"/>
                    </a:ext>
                  </a:extLst>
                </a:gridCol>
              </a:tblGrid>
              <a:tr h="370840">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370840">
                <a:tc>
                  <a:txBody>
                    <a:bodyPr/>
                    <a:lstStyle/>
                    <a:p>
                      <a:pPr algn="just"/>
                      <a:r>
                        <a:rPr lang="en-US">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2011</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sz="1800" b="0" kern="1200" dirty="0">
                          <a:solidFill>
                            <a:schemeClr val="dk1"/>
                          </a:solidFill>
                          <a:effectLst/>
                          <a:latin typeface="Times New Roman" panose="02020603050405020304" pitchFamily="18" charset="0"/>
                          <a:ea typeface="+mn-ea"/>
                          <a:cs typeface="Times New Roman" panose="02020603050405020304" pitchFamily="18" charset="0"/>
                        </a:rPr>
                        <a:t>Birch, A., Osborne, M. </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US" sz="1800" b="0" kern="1200" dirty="0">
                          <a:solidFill>
                            <a:schemeClr val="dk1"/>
                          </a:solidFill>
                          <a:effectLst/>
                          <a:latin typeface="Times New Roman" panose="02020603050405020304" pitchFamily="18" charset="0"/>
                          <a:ea typeface="+mn-ea"/>
                          <a:cs typeface="Times New Roman" panose="02020603050405020304" pitchFamily="18" charset="0"/>
                        </a:rPr>
                        <a:t>Reordering metrics for MT.</a:t>
                      </a:r>
                      <a:endParaRPr lang="en-IN"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800" kern="1200" dirty="0">
                          <a:solidFill>
                            <a:schemeClr val="dk1"/>
                          </a:solidFill>
                          <a:effectLst/>
                          <a:latin typeface="Times New Roman" panose="02020603050405020304" pitchFamily="18" charset="0"/>
                          <a:ea typeface="+mn-ea"/>
                          <a:cs typeface="Times New Roman" panose="02020603050405020304" pitchFamily="18" charset="0"/>
                        </a:rPr>
                        <a:t>The study demonstrates that the </a:t>
                      </a:r>
                      <a:r>
                        <a:rPr lang="en-US" sz="1800" kern="1200" dirty="0" err="1">
                          <a:solidFill>
                            <a:schemeClr val="dk1"/>
                          </a:solidFill>
                          <a:effectLst/>
                          <a:latin typeface="Times New Roman" panose="02020603050405020304" pitchFamily="18" charset="0"/>
                          <a:ea typeface="+mn-ea"/>
                          <a:cs typeface="Times New Roman" panose="02020603050405020304" pitchFamily="18" charset="0"/>
                        </a:rPr>
                        <a:t>LRscore</a:t>
                      </a:r>
                      <a:r>
                        <a:rPr lang="en-US" sz="1800" kern="1200" dirty="0">
                          <a:solidFill>
                            <a:schemeClr val="dk1"/>
                          </a:solidFill>
                          <a:effectLst/>
                          <a:latin typeface="Times New Roman" panose="02020603050405020304" pitchFamily="18" charset="0"/>
                          <a:ea typeface="+mn-ea"/>
                          <a:cs typeface="Times New Roman" panose="02020603050405020304" pitchFamily="18" charset="0"/>
                        </a:rPr>
                        <a:t> aligns more closely with human judgments compared to other metrics like BLEU score. Additionally, training translation model parameters with </a:t>
                      </a:r>
                      <a:r>
                        <a:rPr lang="en-US" sz="1800" kern="1200" dirty="0" err="1">
                          <a:solidFill>
                            <a:schemeClr val="dk1"/>
                          </a:solidFill>
                          <a:effectLst/>
                          <a:latin typeface="Times New Roman" panose="02020603050405020304" pitchFamily="18" charset="0"/>
                          <a:ea typeface="+mn-ea"/>
                          <a:cs typeface="Times New Roman" panose="02020603050405020304" pitchFamily="18" charset="0"/>
                        </a:rPr>
                        <a:t>LRscore</a:t>
                      </a:r>
                      <a:r>
                        <a:rPr lang="en-US" sz="1800" kern="1200" dirty="0">
                          <a:solidFill>
                            <a:schemeClr val="dk1"/>
                          </a:solidFill>
                          <a:effectLst/>
                          <a:latin typeface="Times New Roman" panose="02020603050405020304" pitchFamily="18" charset="0"/>
                          <a:ea typeface="+mn-ea"/>
                          <a:cs typeface="Times New Roman" panose="02020603050405020304" pitchFamily="18" charset="0"/>
                        </a:rPr>
                        <a:t> results in preferred human-readable translations without sacrificing BLEU scores.</a:t>
                      </a: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just"/>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1"/>
                  </a:ext>
                </a:extLst>
              </a:tr>
              <a:tr h="340064">
                <a:tc>
                  <a:txBody>
                    <a:bodyPr/>
                    <a:lstStyle/>
                    <a:p>
                      <a:pPr algn="just"/>
                      <a:r>
                        <a:rPr lang="en-US">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2014</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sz="1800" b="0" kern="1200" dirty="0" err="1">
                          <a:solidFill>
                            <a:schemeClr val="dk1"/>
                          </a:solidFill>
                          <a:effectLst/>
                          <a:latin typeface="Times New Roman" panose="02020603050405020304" pitchFamily="18" charset="0"/>
                          <a:ea typeface="+mn-ea"/>
                          <a:cs typeface="Times New Roman" panose="02020603050405020304" pitchFamily="18" charset="0"/>
                        </a:rPr>
                        <a:t>Denkowski</a:t>
                      </a:r>
                      <a:r>
                        <a:rPr lang="en-US" sz="1800" b="0" kern="1200" dirty="0">
                          <a:solidFill>
                            <a:schemeClr val="dk1"/>
                          </a:solidFill>
                          <a:effectLst/>
                          <a:latin typeface="Times New Roman" panose="02020603050405020304" pitchFamily="18" charset="0"/>
                          <a:ea typeface="+mn-ea"/>
                          <a:cs typeface="Times New Roman" panose="02020603050405020304" pitchFamily="18" charset="0"/>
                        </a:rPr>
                        <a:t>, M., </a:t>
                      </a:r>
                      <a:r>
                        <a:rPr lang="en-US" sz="1800" b="0" kern="1200" dirty="0" err="1">
                          <a:solidFill>
                            <a:schemeClr val="dk1"/>
                          </a:solidFill>
                          <a:effectLst/>
                          <a:latin typeface="Times New Roman" panose="02020603050405020304" pitchFamily="18" charset="0"/>
                          <a:ea typeface="+mn-ea"/>
                          <a:cs typeface="Times New Roman" panose="02020603050405020304" pitchFamily="18" charset="0"/>
                        </a:rPr>
                        <a:t>Lavie</a:t>
                      </a:r>
                      <a:r>
                        <a:rPr lang="en-US" sz="1800" b="0" kern="1200" dirty="0">
                          <a:solidFill>
                            <a:schemeClr val="dk1"/>
                          </a:solidFill>
                          <a:effectLst/>
                          <a:latin typeface="Times New Roman" panose="02020603050405020304" pitchFamily="18" charset="0"/>
                          <a:ea typeface="+mn-ea"/>
                          <a:cs typeface="Times New Roman" panose="02020603050405020304" pitchFamily="18" charset="0"/>
                        </a:rPr>
                        <a:t>, A, </a:t>
                      </a:r>
                      <a:r>
                        <a:rPr lang="en-US" sz="1800" b="0" kern="1200" dirty="0" err="1">
                          <a:solidFill>
                            <a:schemeClr val="dk1"/>
                          </a:solidFill>
                          <a:effectLst/>
                          <a:latin typeface="Times New Roman" panose="02020603050405020304" pitchFamily="18" charset="0"/>
                          <a:ea typeface="+mn-ea"/>
                          <a:cs typeface="Times New Roman" panose="02020603050405020304" pitchFamily="18" charset="0"/>
                        </a:rPr>
                        <a:t>Lacruz</a:t>
                      </a:r>
                      <a:r>
                        <a:rPr lang="en-US" sz="1800" b="0" kern="1200" dirty="0">
                          <a:solidFill>
                            <a:schemeClr val="dk1"/>
                          </a:solidFill>
                          <a:effectLst/>
                          <a:latin typeface="Times New Roman" panose="02020603050405020304" pitchFamily="18" charset="0"/>
                          <a:ea typeface="+mn-ea"/>
                          <a:cs typeface="Times New Roman" panose="02020603050405020304" pitchFamily="18" charset="0"/>
                        </a:rPr>
                        <a:t>, I., Dyer, C. </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US" sz="1800" b="0" kern="1200" dirty="0">
                          <a:solidFill>
                            <a:schemeClr val="dk1"/>
                          </a:solidFill>
                          <a:effectLst/>
                          <a:latin typeface="Times New Roman" panose="02020603050405020304" pitchFamily="18" charset="0"/>
                          <a:ea typeface="+mn-ea"/>
                          <a:cs typeface="Times New Roman" panose="02020603050405020304" pitchFamily="18" charset="0"/>
                        </a:rPr>
                        <a:t>Real time adaptive machine translation for post-editing with </a:t>
                      </a:r>
                      <a:r>
                        <a:rPr lang="en-US" sz="1800" b="0" kern="1200" dirty="0" err="1">
                          <a:solidFill>
                            <a:schemeClr val="dk1"/>
                          </a:solidFill>
                          <a:effectLst/>
                          <a:latin typeface="Times New Roman" panose="02020603050405020304" pitchFamily="18" charset="0"/>
                          <a:ea typeface="+mn-ea"/>
                          <a:cs typeface="Times New Roman" panose="02020603050405020304" pitchFamily="18" charset="0"/>
                        </a:rPr>
                        <a:t>cdec</a:t>
                      </a:r>
                      <a:r>
                        <a:rPr lang="en-US" sz="1800" b="0" kern="1200" dirty="0">
                          <a:solidFill>
                            <a:schemeClr val="dk1"/>
                          </a:solidFill>
                          <a:effectLst/>
                          <a:latin typeface="Times New Roman" panose="02020603050405020304" pitchFamily="18" charset="0"/>
                          <a:ea typeface="+mn-ea"/>
                          <a:cs typeface="Times New Roman" panose="02020603050405020304" pitchFamily="18" charset="0"/>
                        </a:rPr>
                        <a:t> and </a:t>
                      </a:r>
                      <a:r>
                        <a:rPr lang="en-US" sz="1800" b="0" kern="1200" dirty="0" err="1">
                          <a:solidFill>
                            <a:schemeClr val="dk1"/>
                          </a:solidFill>
                          <a:effectLst/>
                          <a:latin typeface="Times New Roman" panose="02020603050405020304" pitchFamily="18" charset="0"/>
                          <a:ea typeface="+mn-ea"/>
                          <a:cs typeface="Times New Roman" panose="02020603050405020304" pitchFamily="18" charset="0"/>
                        </a:rPr>
                        <a:t>TransCenter</a:t>
                      </a:r>
                      <a:r>
                        <a:rPr lang="en-US" sz="1800" b="0" kern="1200" dirty="0">
                          <a:solidFill>
                            <a:schemeClr val="dk1"/>
                          </a:solidFill>
                          <a:effectLst/>
                          <a:latin typeface="Times New Roman" panose="02020603050405020304" pitchFamily="18" charset="0"/>
                          <a:ea typeface="+mn-ea"/>
                          <a:cs typeface="Times New Roman" panose="02020603050405020304" pitchFamily="18" charset="0"/>
                        </a:rPr>
                        <a:t>.</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US" sz="1800" kern="1200" dirty="0" err="1">
                          <a:solidFill>
                            <a:schemeClr val="dk1"/>
                          </a:solidFill>
                          <a:effectLst/>
                          <a:latin typeface="Times New Roman" panose="02020603050405020304" pitchFamily="18" charset="0"/>
                          <a:ea typeface="+mn-ea"/>
                          <a:cs typeface="Times New Roman" panose="02020603050405020304" pitchFamily="18" charset="0"/>
                        </a:rPr>
                        <a:t>TransCenter</a:t>
                      </a:r>
                      <a:r>
                        <a:rPr lang="en-US" sz="1800" kern="1200" dirty="0">
                          <a:solidFill>
                            <a:schemeClr val="dk1"/>
                          </a:solidFill>
                          <a:effectLst/>
                          <a:latin typeface="Times New Roman" panose="02020603050405020304" pitchFamily="18" charset="0"/>
                          <a:ea typeface="+mn-ea"/>
                          <a:cs typeface="Times New Roman" panose="02020603050405020304" pitchFamily="18" charset="0"/>
                        </a:rPr>
                        <a:t> enables users to connect to Realtime systems and logs post-editing activity, aiding in the analysis of human translator productivity. The combination of these tools allows for the streamlined deployment of MT systems tailored for post-editing. Additionally, both tools and post-editing data from validation experiments are available under an open-source license. </a:t>
                      </a: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8F1729D-250B-6E0A-C1A6-3FCA06B835AD}"/>
              </a:ext>
            </a:extLst>
          </p:cNvPr>
          <p:cNvGraphicFramePr>
            <a:graphicFrameLocks noGrp="1"/>
          </p:cNvGraphicFramePr>
          <p:nvPr>
            <p:extLst>
              <p:ext uri="{D42A27DB-BD31-4B8C-83A1-F6EECF244321}">
                <p14:modId xmlns:p14="http://schemas.microsoft.com/office/powerpoint/2010/main" val="1630690097"/>
              </p:ext>
            </p:extLst>
          </p:nvPr>
        </p:nvGraphicFramePr>
        <p:xfrm>
          <a:off x="858507" y="347492"/>
          <a:ext cx="9931413" cy="6163016"/>
        </p:xfrm>
        <a:graphic>
          <a:graphicData uri="http://schemas.openxmlformats.org/drawingml/2006/table">
            <a:tbl>
              <a:tblPr firstRow="1" bandRow="1">
                <a:tableStyleId>{5C22544A-7EE6-4342-B048-85BDC9FD1C3A}</a:tableStyleId>
              </a:tblPr>
              <a:tblGrid>
                <a:gridCol w="788473">
                  <a:extLst>
                    <a:ext uri="{9D8B030D-6E8A-4147-A177-3AD203B41FA5}">
                      <a16:colId xmlns:a16="http://schemas.microsoft.com/office/drawing/2014/main" val="20000"/>
                    </a:ext>
                  </a:extLst>
                </a:gridCol>
                <a:gridCol w="1424766">
                  <a:extLst>
                    <a:ext uri="{9D8B030D-6E8A-4147-A177-3AD203B41FA5}">
                      <a16:colId xmlns:a16="http://schemas.microsoft.com/office/drawing/2014/main" val="20001"/>
                    </a:ext>
                  </a:extLst>
                </a:gridCol>
                <a:gridCol w="1665967">
                  <a:extLst>
                    <a:ext uri="{9D8B030D-6E8A-4147-A177-3AD203B41FA5}">
                      <a16:colId xmlns:a16="http://schemas.microsoft.com/office/drawing/2014/main" val="20002"/>
                    </a:ext>
                  </a:extLst>
                </a:gridCol>
                <a:gridCol w="2079483">
                  <a:extLst>
                    <a:ext uri="{9D8B030D-6E8A-4147-A177-3AD203B41FA5}">
                      <a16:colId xmlns:a16="http://schemas.microsoft.com/office/drawing/2014/main" val="20003"/>
                    </a:ext>
                  </a:extLst>
                </a:gridCol>
                <a:gridCol w="3972724">
                  <a:extLst>
                    <a:ext uri="{9D8B030D-6E8A-4147-A177-3AD203B41FA5}">
                      <a16:colId xmlns:a16="http://schemas.microsoft.com/office/drawing/2014/main" val="20004"/>
                    </a:ext>
                  </a:extLst>
                </a:gridCol>
              </a:tblGrid>
              <a:tr h="493736">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370840">
                <a:tc>
                  <a:txBody>
                    <a:bodyPr/>
                    <a:lstStyle/>
                    <a:p>
                      <a:pPr algn="just">
                        <a:lnSpc>
                          <a:spcPct val="150000"/>
                        </a:lnSpc>
                      </a:pPr>
                      <a:r>
                        <a:rPr lang="en-US" sz="1800" b="0" dirty="0">
                          <a:latin typeface="Times New Roman" panose="02020603050405020304" pitchFamily="18" charset="0"/>
                          <a:cs typeface="Times New Roman" panose="02020603050405020304" pitchFamily="18" charset="0"/>
                        </a:rPr>
                        <a:t>5</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0" kern="1200" dirty="0">
                          <a:solidFill>
                            <a:schemeClr val="tx1"/>
                          </a:solidFill>
                          <a:effectLst/>
                          <a:latin typeface="Times New Roman" panose="02020603050405020304" pitchFamily="18" charset="0"/>
                          <a:ea typeface="+mn-ea"/>
                          <a:cs typeface="Times New Roman" panose="02020603050405020304" pitchFamily="18" charset="0"/>
                        </a:rPr>
                        <a:t>2018</a:t>
                      </a:r>
                    </a:p>
                    <a:p>
                      <a:pPr algn="just">
                        <a:lnSpc>
                          <a:spcPct val="150000"/>
                        </a:lnSpc>
                      </a:pPr>
                      <a:endParaRPr lang="en-US" sz="18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Green, S., Wang, S., Chuang, J., Heer, J. Schuster, S., Manning, C. D. </a:t>
                      </a:r>
                    </a:p>
                  </a:txBody>
                  <a:tcPr/>
                </a:tc>
                <a:tc>
                  <a:txBody>
                    <a:bodyPr/>
                    <a:lstStyle/>
                    <a:p>
                      <a:pPr algn="just"/>
                      <a:r>
                        <a:rPr lang="en-US" sz="1800" b="0" kern="1200" dirty="0">
                          <a:solidFill>
                            <a:schemeClr val="dk1"/>
                          </a:solidFill>
                          <a:effectLst/>
                          <a:latin typeface="Times New Roman" panose="02020603050405020304" pitchFamily="18" charset="0"/>
                          <a:ea typeface="+mn-ea"/>
                          <a:cs typeface="Times New Roman" panose="02020603050405020304" pitchFamily="18" charset="0"/>
                        </a:rPr>
                        <a:t>Human effort and machine learnability in computer aided translation. In Proceedings of EMNLP</a:t>
                      </a:r>
                      <a:endParaRPr lang="en-IN"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800" kern="1200" dirty="0">
                          <a:solidFill>
                            <a:schemeClr val="dk1"/>
                          </a:solidFill>
                          <a:effectLst/>
                          <a:latin typeface="Times New Roman" panose="02020603050405020304" pitchFamily="18" charset="0"/>
                          <a:ea typeface="+mn-ea"/>
                          <a:cs typeface="Times New Roman" panose="02020603050405020304" pitchFamily="18" charset="0"/>
                        </a:rPr>
                        <a:t>Evaluation with professional translators reveals that while postediting is faster, interactive translation yields higher quality results after re-tuning the MT system. Direct tuning to Human Translation Error Rate (HTER) results in significant improvements in subsequent machine output, indicating the efficacy of interactive translation methods. </a:t>
                      </a: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1"/>
                  </a:ext>
                </a:extLst>
              </a:tr>
              <a:tr h="340064">
                <a:tc>
                  <a:txBody>
                    <a:bodyPr/>
                    <a:lstStyle/>
                    <a:p>
                      <a:pPr algn="just">
                        <a:lnSpc>
                          <a:spcPct val="150000"/>
                        </a:lnSpc>
                      </a:pPr>
                      <a:r>
                        <a:rPr lang="en-US" sz="1800" b="0" dirty="0">
                          <a:latin typeface="Times New Roman" panose="02020603050405020304" pitchFamily="18" charset="0"/>
                          <a:cs typeface="Times New Roman" panose="02020603050405020304" pitchFamily="18" charset="0"/>
                        </a:rPr>
                        <a:t>6</a:t>
                      </a:r>
                    </a:p>
                  </a:txBody>
                  <a:tcPr/>
                </a:tc>
                <a:tc>
                  <a:txBody>
                    <a:bodyPr/>
                    <a:lstStyle/>
                    <a:p>
                      <a:pPr algn="just">
                        <a:lnSpc>
                          <a:spcPct val="150000"/>
                        </a:lnSpc>
                      </a:pP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2019</a:t>
                      </a:r>
                    </a:p>
                    <a:p>
                      <a:pPr algn="just">
                        <a:lnSpc>
                          <a:spcPct val="150000"/>
                        </a:lnSpc>
                      </a:pPr>
                      <a:endParaRPr lang="en-US" sz="18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US" sz="1800" b="0" kern="1200" dirty="0" err="1">
                          <a:solidFill>
                            <a:schemeClr val="dk1"/>
                          </a:solidFill>
                          <a:effectLst/>
                          <a:latin typeface="Times New Roman" panose="02020603050405020304" pitchFamily="18" charset="0"/>
                          <a:ea typeface="+mn-ea"/>
                          <a:cs typeface="Times New Roman" panose="02020603050405020304" pitchFamily="18" charset="0"/>
                        </a:rPr>
                        <a:t>Grudin</a:t>
                      </a:r>
                      <a:r>
                        <a:rPr lang="en-US" sz="1800" b="0" kern="1200" dirty="0">
                          <a:solidFill>
                            <a:schemeClr val="dk1"/>
                          </a:solidFill>
                          <a:effectLst/>
                          <a:latin typeface="Times New Roman" panose="02020603050405020304" pitchFamily="18" charset="0"/>
                          <a:ea typeface="+mn-ea"/>
                          <a:cs typeface="Times New Roman" panose="02020603050405020304" pitchFamily="18" charset="0"/>
                        </a:rPr>
                        <a:t>, J. (2012). </a:t>
                      </a:r>
                    </a:p>
                  </a:txBody>
                  <a:tcPr/>
                </a:tc>
                <a:tc>
                  <a:txBody>
                    <a:bodyPr/>
                    <a:lstStyle/>
                    <a:p>
                      <a:pPr algn="just"/>
                      <a:r>
                        <a:rPr lang="en-US" sz="1800" b="0" kern="1200" dirty="0">
                          <a:solidFill>
                            <a:schemeClr val="dk1"/>
                          </a:solidFill>
                          <a:effectLst/>
                          <a:latin typeface="Times New Roman" panose="02020603050405020304" pitchFamily="18" charset="0"/>
                          <a:ea typeface="+mn-ea"/>
                          <a:cs typeface="Times New Roman" panose="02020603050405020304" pitchFamily="18" charset="0"/>
                        </a:rPr>
                        <a:t>A moving target—the evolution of human-computer interaction. In Jacko, J. A. (Ed.), Human-Computer Interaction Handbook: Fundamentals, Evolving Technologies</a:t>
                      </a:r>
                      <a:endParaRPr lang="en-IN"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800" kern="1200" dirty="0">
                          <a:solidFill>
                            <a:schemeClr val="dk1"/>
                          </a:solidFill>
                          <a:effectLst/>
                          <a:latin typeface="Times New Roman" panose="02020603050405020304" pitchFamily="18" charset="0"/>
                          <a:ea typeface="+mn-ea"/>
                          <a:cs typeface="Times New Roman" panose="02020603050405020304" pitchFamily="18" charset="0"/>
                        </a:rPr>
                        <a:t>Through this examination, he likely highlights the challenges and opportunities inherent in navigating this evolving landscape. The chapter promises insights into the past, present, and future of HCI, providing a comprehensive understanding of this interdisciplinary field.</a:t>
                      </a: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just"/>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004108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451098" y="48414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EXISTING SYSTEM</a:t>
            </a:r>
          </a:p>
        </p:txBody>
      </p:sp>
      <p:sp>
        <p:nvSpPr>
          <p:cNvPr id="2" name="Rectangle 1"/>
          <p:cNvSpPr/>
          <p:nvPr/>
        </p:nvSpPr>
        <p:spPr>
          <a:xfrm>
            <a:off x="1570600" y="1714245"/>
            <a:ext cx="8783221" cy="4659609"/>
          </a:xfrm>
          <a:prstGeom prst="rect">
            <a:avLst/>
          </a:prstGeom>
        </p:spPr>
        <p:txBody>
          <a:bodyPr wrap="square">
            <a:spAutoFit/>
          </a:bodyPr>
          <a:lstStyle/>
          <a:p>
            <a:pPr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existing system for railway information dissemination, relying on older libraries, offers basic multilingual support primarily for major Indian languages. It utilizes traditional text-to-speech (TTS) engines and basic natural language processing (NLP) techniques. The system is capable of scripted station announcements and responses over IVRS, but lacks real-time adaptability and the nuanced understanding of modern NLP tools. Its speech synthesis, while functional, does not match the natural quality of newer technologies like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Limited by older frameworks, the system faces challenges in noise reduction, dynamic content generation, and integration with contemporary mobile and web platforms, highlighting the need for an upgrade to more advanced solutions.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094893" y="267286"/>
            <a:ext cx="4529797" cy="68931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DISADVANTAGES</a:t>
            </a:r>
          </a:p>
        </p:txBody>
      </p:sp>
      <p:sp>
        <p:nvSpPr>
          <p:cNvPr id="3" name="Rectangle 2"/>
          <p:cNvSpPr/>
          <p:nvPr/>
        </p:nvSpPr>
        <p:spPr>
          <a:xfrm>
            <a:off x="595854" y="1183208"/>
            <a:ext cx="9527874" cy="5064015"/>
          </a:xfrm>
          <a:prstGeom prst="rect">
            <a:avLst/>
          </a:prstGeom>
        </p:spPr>
        <p:txBody>
          <a:bodyPr wrap="square">
            <a:spAutoFit/>
          </a:bodyPr>
          <a:lstStyle/>
          <a:p>
            <a:pPr>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Limited multilingual support, primarily for major Indian languages, restricts accessibility for diverse linguistic communities.</a:t>
            </a:r>
          </a:p>
          <a:p>
            <a:pPr>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Outdated text-to-speech (TTS) engines result in unnatural sounding announcements, diminishing user experience.</a:t>
            </a:r>
          </a:p>
          <a:p>
            <a:pPr>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Lack of real-time adaptability hinders the system's ability to provide timely and relevant information.</a:t>
            </a:r>
          </a:p>
          <a:p>
            <a:pPr>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4.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Inadequate noise reduction capabilities diminish the clarity of announcements, affecting communication in busy station environments.</a:t>
            </a:r>
          </a:p>
          <a:p>
            <a:pPr>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Integration challenges with modern mobile and web platforms limit the system's accessibility and usability for passengers.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204703" y="456235"/>
            <a:ext cx="8596668" cy="819955"/>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PROPOSED METHOD</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747971" y="1511643"/>
            <a:ext cx="8818061" cy="5121274"/>
          </a:xfrm>
          <a:prstGeom prst="rect">
            <a:avLst/>
          </a:prstGeom>
        </p:spPr>
        <p:txBody>
          <a:bodyPr wrap="square">
            <a:spAutoFit/>
          </a:bodyPr>
          <a:lstStyle/>
          <a:p>
            <a:pPr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proposed system leverages advanced technologies like the Google Text-to-Speech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Python library to revolutionize information dissemination in Indian railway stations. This solution offers extensive multilingual support, including regional Indian languages and potential for foreign language expansion. It integrates real-time text-to-speech conversion with sophisticated natural language processing (NLP) capabilities, facilitating dynamic, accurate, and natural-sounding announcements. Designed to operate effectively in noisy environments, the system includes noise reduction techniques and is optimized for mobile and web platforms, ensuring accessible and efficient communication. This modern approach significantly enhances passenger experience through timely, clear, and personalized information delivery in a variety of languages.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704494" y="266516"/>
            <a:ext cx="4023360" cy="618978"/>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ADVANTAGES</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417344" y="1391931"/>
            <a:ext cx="10597660" cy="5064015"/>
          </a:xfrm>
          <a:prstGeom prst="rect">
            <a:avLst/>
          </a:prstGeom>
        </p:spPr>
        <p:txBody>
          <a:bodyPr wrap="square">
            <a:spAutoFit/>
          </a:bodyPr>
          <a:lstStyle/>
          <a:p>
            <a:pPr algn="just">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 Enhanced Accessibility: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Provides clear, natural-sounding announcements in multiple languages, including regional Indian dialects, improving inclusivity for diverse passenger demographics.</a:t>
            </a:r>
          </a:p>
          <a:p>
            <a:pPr algn="just">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 Real-Time Information Delivery: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Ensures dynamic and accurate dissemination of information, adapting swiftly to changes and updates in railway operations.</a:t>
            </a:r>
          </a:p>
          <a:p>
            <a:pPr algn="just">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 Improved Passenger Experience: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Delivers personalized and timely announcements, significantly enhancing user satisfaction and convenience during travel.</a:t>
            </a:r>
          </a:p>
          <a:p>
            <a:pPr algn="just">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4. Noise Reduction Capabilities: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Maintains clarity of communication in the challenging and noisy environments typical of railway stations.</a:t>
            </a:r>
          </a:p>
          <a:p>
            <a:pPr algn="just">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 Mobile and Web Optimization: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Facilitates easy access to information across various platforms, making the system adaptable and convenient for on-the-go use.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8078" y="352984"/>
            <a:ext cx="8911687" cy="590542"/>
          </a:xfrm>
        </p:spPr>
        <p:txBody>
          <a:bodyPr>
            <a:normAutofit/>
          </a:bodyPr>
          <a:lstStyle/>
          <a:p>
            <a:pPr algn="ctr"/>
            <a:r>
              <a:rPr lang="en-US" sz="2400" b="1" dirty="0">
                <a:solidFill>
                  <a:schemeClr val="tx2"/>
                </a:solidFill>
                <a:latin typeface="Times New Roman" panose="02020603050405020304" pitchFamily="18" charset="0"/>
                <a:cs typeface="Times New Roman" panose="02020603050405020304" pitchFamily="18" charset="0"/>
              </a:rPr>
              <a:t>BLOCK DIAGRAM</a:t>
            </a:r>
          </a:p>
        </p:txBody>
      </p:sp>
      <p:pic>
        <p:nvPicPr>
          <p:cNvPr id="4" name="Picture 3">
            <a:extLst>
              <a:ext uri="{FF2B5EF4-FFF2-40B4-BE49-F238E27FC236}">
                <a16:creationId xmlns:a16="http://schemas.microsoft.com/office/drawing/2014/main" id="{40F1FB0F-4A95-E25B-158F-D2EED1FE534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26412" y="1354455"/>
            <a:ext cx="3428463" cy="4880610"/>
          </a:xfrm>
          <a:prstGeom prst="rect">
            <a:avLst/>
          </a:prstGeom>
          <a:noFill/>
          <a:ln>
            <a:noFill/>
          </a:ln>
        </p:spPr>
      </p:pic>
    </p:spTree>
    <p:extLst>
      <p:ext uri="{BB962C8B-B14F-4D97-AF65-F5344CB8AC3E}">
        <p14:creationId xmlns:p14="http://schemas.microsoft.com/office/powerpoint/2010/main" val="28058585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p:nvPr/>
        </p:nvSpPr>
        <p:spPr>
          <a:xfrm>
            <a:off x="984738" y="1412726"/>
            <a:ext cx="9214340" cy="5445274"/>
          </a:xfrm>
          <a:prstGeom prst="rect">
            <a:avLst/>
          </a:prstGeom>
        </p:spPr>
        <p:txBody>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Font typeface="Arial" panose="020B0604020202020204"/>
              <a:buNone/>
            </a:pPr>
            <a:r>
              <a:rPr lang="en-US" sz="2000" b="1" dirty="0">
                <a:solidFill>
                  <a:schemeClr val="accent3">
                    <a:lumMod val="50000"/>
                  </a:schemeClr>
                </a:solidFill>
                <a:latin typeface="Times New Roman" panose="02020603050405020304" pitchFamily="18" charset="0"/>
                <a:cs typeface="Times New Roman" panose="02020603050405020304" pitchFamily="18" charset="0"/>
              </a:rPr>
              <a:t>SOFTWARE REQUIREMENS</a:t>
            </a:r>
          </a:p>
          <a:p>
            <a:pPr algn="just">
              <a:lnSpc>
                <a:spcPct val="150000"/>
              </a:lnSpc>
            </a:pPr>
            <a:r>
              <a:rPr lang="en-US" sz="2000" dirty="0">
                <a:latin typeface="Times New Roman" panose="02020603050405020304" pitchFamily="18" charset="0"/>
                <a:cs typeface="Times New Roman" panose="02020603050405020304" pitchFamily="18" charset="0"/>
              </a:rPr>
              <a:t>Operating System			:  Windows 7/8/10</a:t>
            </a:r>
          </a:p>
          <a:p>
            <a:pPr algn="just">
              <a:lnSpc>
                <a:spcPct val="150000"/>
              </a:lnSpc>
            </a:pPr>
            <a:r>
              <a:rPr lang="en-US" sz="2000" dirty="0">
                <a:latin typeface="Times New Roman" panose="02020603050405020304" pitchFamily="18" charset="0"/>
                <a:cs typeface="Times New Roman" panose="02020603050405020304" pitchFamily="18" charset="0"/>
              </a:rPr>
              <a:t>Server side Script			:  HTML, CSS, Bootstrap &amp; JS</a:t>
            </a:r>
          </a:p>
          <a:p>
            <a:pPr algn="just">
              <a:lnSpc>
                <a:spcPct val="150000"/>
              </a:lnSpc>
            </a:pPr>
            <a:r>
              <a:rPr lang="en-US" sz="2000" dirty="0">
                <a:latin typeface="Times New Roman" panose="02020603050405020304" pitchFamily="18" charset="0"/>
                <a:cs typeface="Times New Roman" panose="02020603050405020304" pitchFamily="18" charset="0"/>
              </a:rPr>
              <a:t>Programming Language	:  Python</a:t>
            </a:r>
          </a:p>
          <a:p>
            <a:pPr algn="just">
              <a:lnSpc>
                <a:spcPct val="150000"/>
              </a:lnSpc>
            </a:pPr>
            <a:r>
              <a:rPr lang="en-US" sz="2000" dirty="0">
                <a:latin typeface="Times New Roman" panose="02020603050405020304" pitchFamily="18" charset="0"/>
                <a:cs typeface="Times New Roman" panose="02020603050405020304" pitchFamily="18" charset="0"/>
              </a:rPr>
              <a:t>Libraries					:  Flask, Pandas, </a:t>
            </a:r>
            <a:r>
              <a:rPr lang="en-US" sz="2000" dirty="0" err="1">
                <a:latin typeface="Times New Roman" panose="02020603050405020304" pitchFamily="18" charset="0"/>
                <a:cs typeface="Times New Roman" panose="02020603050405020304" pitchFamily="18" charset="0"/>
              </a:rPr>
              <a:t>Mysql.connector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Os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Smtplib</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Numpy</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 IDE/Workbench			:  PyCharm, VS-Code</a:t>
            </a:r>
          </a:p>
          <a:p>
            <a:pPr algn="just">
              <a:lnSpc>
                <a:spcPct val="150000"/>
              </a:lnSpc>
            </a:pPr>
            <a:r>
              <a:rPr lang="en-US" sz="2000" dirty="0">
                <a:latin typeface="Times New Roman" panose="02020603050405020304" pitchFamily="18" charset="0"/>
                <a:cs typeface="Times New Roman" panose="02020603050405020304" pitchFamily="18" charset="0"/>
              </a:rPr>
              <a:t>Technology				:  Python 3.6+</a:t>
            </a:r>
          </a:p>
          <a:p>
            <a:pPr algn="just">
              <a:lnSpc>
                <a:spcPct val="150000"/>
              </a:lnSpc>
            </a:pPr>
            <a:r>
              <a:rPr lang="en-US" sz="2000" dirty="0">
                <a:latin typeface="Times New Roman" panose="02020603050405020304" pitchFamily="18" charset="0"/>
                <a:cs typeface="Times New Roman" panose="02020603050405020304" pitchFamily="18" charset="0"/>
              </a:rPr>
              <a:t>Server Deployment			:  </a:t>
            </a:r>
            <a:r>
              <a:rPr lang="en-US" sz="2000" dirty="0" err="1">
                <a:latin typeface="Times New Roman" panose="02020603050405020304" pitchFamily="18" charset="0"/>
                <a:cs typeface="Times New Roman" panose="02020603050405020304" pitchFamily="18" charset="0"/>
              </a:rPr>
              <a:t>Xampp</a:t>
            </a:r>
            <a:r>
              <a:rPr lang="en-US" sz="2000" dirty="0">
                <a:latin typeface="Times New Roman" panose="02020603050405020304" pitchFamily="18" charset="0"/>
                <a:cs typeface="Times New Roman" panose="02020603050405020304" pitchFamily="18" charset="0"/>
              </a:rPr>
              <a:t> Server</a:t>
            </a:r>
          </a:p>
          <a:p>
            <a:pPr algn="just">
              <a:lnSpc>
                <a:spcPct val="150000"/>
              </a:lnSpc>
            </a:pPr>
            <a:r>
              <a:rPr lang="en-US" sz="2000" dirty="0">
                <a:latin typeface="Times New Roman" panose="02020603050405020304" pitchFamily="18" charset="0"/>
                <a:cs typeface="Times New Roman" panose="02020603050405020304" pitchFamily="18" charset="0"/>
              </a:rPr>
              <a:t>Database					:  MySQL</a:t>
            </a: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5" name="Title 1"/>
          <p:cNvSpPr txBox="1"/>
          <p:nvPr/>
        </p:nvSpPr>
        <p:spPr>
          <a:xfrm>
            <a:off x="1706394" y="0"/>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804410" y="2044100"/>
            <a:ext cx="8596668" cy="3880773"/>
          </a:xfrm>
          <a:prstGeom prst="rect">
            <a:avLst/>
          </a:prstGeom>
        </p:spPr>
        <p:txBody>
          <a:bodyPr>
            <a:normAutofit fontScale="85000"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None/>
            </a:pPr>
            <a:r>
              <a:rPr lang="en-US" b="1" dirty="0">
                <a:solidFill>
                  <a:schemeClr val="accent3">
                    <a:lumMod val="50000"/>
                  </a:schemeClr>
                </a:solidFill>
                <a:latin typeface="Times New Roman" panose="02020603050405020304" pitchFamily="18" charset="0"/>
                <a:cs typeface="Times New Roman" panose="02020603050405020304" pitchFamily="18" charset="0"/>
              </a:rPr>
              <a:t>HARDWARE REQUIREMENTS</a:t>
            </a:r>
            <a:endParaRPr lang="en-US" dirty="0">
              <a:solidFill>
                <a:schemeClr val="accent3">
                  <a:lumMod val="50000"/>
                </a:schemeClr>
              </a:solidFill>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Processor            	                   - I5/Intel Processor</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RAM                                       - 8GB (min)</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Hard Disk                                - 160 GB</a:t>
            </a:r>
          </a:p>
          <a:p>
            <a:pPr algn="just">
              <a:lnSpc>
                <a:spcPct val="150000"/>
              </a:lnSpc>
            </a:pPr>
            <a:r>
              <a:rPr lang="en-US" dirty="0">
                <a:latin typeface="Times New Roman" panose="02020603050405020304" pitchFamily="18" charset="0"/>
                <a:cs typeface="Times New Roman" panose="02020603050405020304" pitchFamily="18" charset="0"/>
              </a:rPr>
              <a:t>Key Board                               - Standard Windows Keyboard</a:t>
            </a:r>
          </a:p>
          <a:p>
            <a:pPr algn="just">
              <a:lnSpc>
                <a:spcPct val="150000"/>
              </a:lnSpc>
            </a:pPr>
            <a:r>
              <a:rPr lang="en-US" dirty="0">
                <a:latin typeface="Times New Roman" panose="02020603050405020304" pitchFamily="18" charset="0"/>
                <a:cs typeface="Times New Roman" panose="02020603050405020304" pitchFamily="18" charset="0"/>
              </a:rPr>
              <a:t>Mouse                                      - Two or Three Button Mouse</a:t>
            </a:r>
          </a:p>
          <a:p>
            <a:pPr algn="just">
              <a:lnSpc>
                <a:spcPct val="150000"/>
              </a:lnSpc>
            </a:pPr>
            <a:r>
              <a:rPr lang="en-US" dirty="0">
                <a:latin typeface="Times New Roman" panose="02020603050405020304" pitchFamily="18" charset="0"/>
                <a:cs typeface="Times New Roman" panose="02020603050405020304" pitchFamily="18" charset="0"/>
              </a:rPr>
              <a:t>Monitor                                    - Any</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319939" y="1911179"/>
            <a:ext cx="9792904" cy="4176583"/>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latin typeface="Times New Roman" panose="02020603050405020304" pitchFamily="18" charset="0"/>
                <a:cs typeface="Times New Roman" panose="02020603050405020304" pitchFamily="18" charset="0"/>
              </a:rPr>
              <a:t>Requirement’s analysis is very critical process that enables the success of a system or software project to be assessed. Requirements are generally split into two types: Functional and non-functional requirements.</a:t>
            </a:r>
          </a:p>
          <a:p>
            <a:pPr algn="just" fontAlgn="base">
              <a:lnSpc>
                <a:spcPct val="150000"/>
              </a:lnSpc>
            </a:pPr>
            <a:r>
              <a:rPr lang="en-US" sz="2000" b="1" dirty="0">
                <a:latin typeface="Times New Roman" panose="02020603050405020304" pitchFamily="18" charset="0"/>
                <a:cs typeface="Times New Roman" panose="02020603050405020304" pitchFamily="18" charset="0"/>
              </a:rPr>
              <a:t>Functional Requirements</a:t>
            </a:r>
            <a:r>
              <a:rPr lang="en-US" sz="2000" dirty="0">
                <a:latin typeface="Times New Roman" panose="02020603050405020304" pitchFamily="18" charset="0"/>
                <a:cs typeface="Times New Roman" panose="02020603050405020304" pitchFamily="18" charset="0"/>
              </a:rPr>
              <a:t>: These are the requirements that the end user specifically demands as basic facilities that the system should offer. All these functionalities need to be necessarily incorporated into the system as a part of the contract. These are represented or stated in the form of input to be given to the system, the operation performed and the output expected. They are basically the requirements stated by the user which one can see directly in the final product, unlike the non-functional requirements.</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070918" y="1672282"/>
            <a:ext cx="10412628" cy="4547286"/>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latin typeface="Times New Roman" panose="02020603050405020304" pitchFamily="18" charset="0"/>
                <a:cs typeface="Times New Roman" panose="02020603050405020304" pitchFamily="18" charset="0"/>
              </a:rPr>
              <a:t>Examples of functional requirements: </a:t>
            </a:r>
          </a:p>
          <a:p>
            <a:pPr lvl="0" algn="just" fontAlgn="base">
              <a:lnSpc>
                <a:spcPct val="150000"/>
              </a:lnSpc>
            </a:pPr>
            <a:r>
              <a:rPr lang="en-US" sz="2000" dirty="0">
                <a:latin typeface="Times New Roman" panose="02020603050405020304" pitchFamily="18" charset="0"/>
                <a:cs typeface="Times New Roman" panose="02020603050405020304" pitchFamily="18" charset="0"/>
              </a:rPr>
              <a:t>Authentication of user whenever he/she logs into the system</a:t>
            </a:r>
          </a:p>
          <a:p>
            <a:pPr lvl="0" algn="just" fontAlgn="base">
              <a:lnSpc>
                <a:spcPct val="150000"/>
              </a:lnSpc>
            </a:pPr>
            <a:r>
              <a:rPr lang="en-US" sz="2000" dirty="0">
                <a:latin typeface="Times New Roman" panose="02020603050405020304" pitchFamily="18" charset="0"/>
                <a:cs typeface="Times New Roman" panose="02020603050405020304" pitchFamily="18" charset="0"/>
              </a:rPr>
              <a:t>System shutdown in case of a cyber-attack</a:t>
            </a:r>
          </a:p>
          <a:p>
            <a:pPr lvl="0" algn="just" fontAlgn="base">
              <a:lnSpc>
                <a:spcPct val="150000"/>
              </a:lnSpc>
            </a:pPr>
            <a:r>
              <a:rPr lang="en-US" sz="2000" dirty="0">
                <a:latin typeface="Times New Roman" panose="02020603050405020304" pitchFamily="18" charset="0"/>
                <a:cs typeface="Times New Roman" panose="02020603050405020304" pitchFamily="18" charset="0"/>
              </a:rPr>
              <a:t>A verification email is sent to user whenever he/she register for the first time on some software system.</a:t>
            </a:r>
          </a:p>
          <a:p>
            <a:pPr algn="just">
              <a:lnSpc>
                <a:spcPct val="150000"/>
              </a:lnSpc>
            </a:pPr>
            <a:r>
              <a:rPr lang="en-US" sz="2000" b="1" dirty="0">
                <a:latin typeface="Times New Roman" panose="02020603050405020304" pitchFamily="18" charset="0"/>
                <a:cs typeface="Times New Roman" panose="02020603050405020304" pitchFamily="18" charset="0"/>
              </a:rPr>
              <a:t>Non-functional requirements</a:t>
            </a:r>
            <a:r>
              <a:rPr lang="en-US" sz="2000" dirty="0">
                <a:latin typeface="Times New Roman" panose="02020603050405020304" pitchFamily="18" charset="0"/>
                <a:cs typeface="Times New Roman" panose="02020603050405020304" pitchFamily="18" charset="0"/>
              </a:rPr>
              <a:t>: These are basically the quality constraints that the system must satisfy according to the project contract. The priority or extent to which these factors are implemented varies from one project to other. They are also called non-behavioral requirements.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476459" y="520222"/>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86183" y="451728"/>
            <a:ext cx="3538280" cy="490807"/>
          </a:xfrm>
        </p:spPr>
        <p:txBody>
          <a:bodyPr>
            <a:normAutofit/>
          </a:bodyPr>
          <a:lstStyle/>
          <a:p>
            <a:pPr algn="ctr"/>
            <a:r>
              <a:rPr lang="en-US" sz="2400" b="1" dirty="0">
                <a:solidFill>
                  <a:schemeClr val="tx2"/>
                </a:solidFill>
                <a:latin typeface="Times New Roman" panose="02020603050405020304" pitchFamily="18" charset="0"/>
                <a:cs typeface="Times New Roman" panose="02020603050405020304" pitchFamily="18" charset="0"/>
              </a:rPr>
              <a:t>ARCHITECTURE</a:t>
            </a:r>
          </a:p>
        </p:txBody>
      </p:sp>
      <p:pic>
        <p:nvPicPr>
          <p:cNvPr id="3" name="Picture 2">
            <a:extLst>
              <a:ext uri="{FF2B5EF4-FFF2-40B4-BE49-F238E27FC236}">
                <a16:creationId xmlns:a16="http://schemas.microsoft.com/office/drawing/2014/main" id="{43D20056-F8F8-742B-C077-D5347AE5E300}"/>
              </a:ext>
            </a:extLst>
          </p:cNvPr>
          <p:cNvPicPr>
            <a:picLocks noChangeAspect="1"/>
          </p:cNvPicPr>
          <p:nvPr/>
        </p:nvPicPr>
        <p:blipFill rotWithShape="1">
          <a:blip r:embed="rId2"/>
          <a:srcRect l="2404" t="13351" r="4007" b="13506"/>
          <a:stretch/>
        </p:blipFill>
        <p:spPr bwMode="auto">
          <a:xfrm>
            <a:off x="3148012" y="2828925"/>
            <a:ext cx="5895975" cy="120015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324781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53683" y="1404742"/>
            <a:ext cx="9045146" cy="3323987"/>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Use Case Diagram:</a:t>
            </a:r>
          </a:p>
          <a:p>
            <a:pPr lvl="0"/>
            <a:r>
              <a:rPr lang="en-US" b="1" dirty="0"/>
              <a:t>1) </a:t>
            </a:r>
            <a:r>
              <a:rPr lang="en-US" sz="2000" dirty="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a:t>
            </a:r>
          </a:p>
          <a:p>
            <a:pPr lvl="0"/>
            <a:endParaRPr lang="en-IN" sz="2000" dirty="0">
              <a:latin typeface="Times New Roman" panose="02020603050405020304" pitchFamily="18" charset="0"/>
              <a:cs typeface="Times New Roman" panose="02020603050405020304" pitchFamily="18" charset="0"/>
            </a:endParaRPr>
          </a:p>
          <a:p>
            <a:pPr lvl="0"/>
            <a:r>
              <a:rPr lang="en-US" sz="2000" b="1" dirty="0">
                <a:latin typeface="Times New Roman" panose="02020603050405020304" pitchFamily="18" charset="0"/>
                <a:cs typeface="Times New Roman" panose="02020603050405020304" pitchFamily="18" charset="0"/>
              </a:rPr>
              <a:t>2) </a:t>
            </a:r>
            <a:r>
              <a:rPr lang="en-US" sz="2000" dirty="0">
                <a:latin typeface="Times New Roman" panose="02020603050405020304" pitchFamily="18" charset="0"/>
                <a:cs typeface="Times New Roman" panose="02020603050405020304" pitchFamily="18" charset="0"/>
              </a:rPr>
              <a:t>Its purpose is to present a graphical overview of the functionality provided by a system in terms of actors, their goals (represented as use cases), and any dependencies between those use cases. </a:t>
            </a:r>
          </a:p>
          <a:p>
            <a:pPr lvl="0"/>
            <a:endParaRPr lang="en-IN" sz="2000" dirty="0">
              <a:latin typeface="Times New Roman" panose="02020603050405020304" pitchFamily="18" charset="0"/>
              <a:cs typeface="Times New Roman" panose="02020603050405020304" pitchFamily="18" charset="0"/>
            </a:endParaRPr>
          </a:p>
          <a:p>
            <a:pPr lvl="0"/>
            <a:r>
              <a:rPr lang="en-US" sz="2000" b="1" dirty="0">
                <a:latin typeface="Times New Roman" panose="02020603050405020304" pitchFamily="18" charset="0"/>
                <a:cs typeface="Times New Roman" panose="02020603050405020304" pitchFamily="18" charset="0"/>
              </a:rPr>
              <a:t>3) </a:t>
            </a:r>
            <a:r>
              <a:rPr lang="en-US" sz="2000" dirty="0">
                <a:latin typeface="Times New Roman" panose="02020603050405020304" pitchFamily="18" charset="0"/>
                <a:cs typeface="Times New Roman" panose="02020603050405020304" pitchFamily="18" charset="0"/>
              </a:rPr>
              <a:t>The main purpose of a use case diagram is to show what system functions are performed for which actor. Roles of the actors in the system can be depicted.</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13409"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 Box 1"/>
          <p:cNvSpPr txBox="1"/>
          <p:nvPr/>
        </p:nvSpPr>
        <p:spPr>
          <a:xfrm>
            <a:off x="4442460" y="6221256"/>
            <a:ext cx="3307080" cy="368300"/>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Use Case Diagram</a:t>
            </a:r>
          </a:p>
        </p:txBody>
      </p:sp>
      <p:pic>
        <p:nvPicPr>
          <p:cNvPr id="5" name="Picture 4">
            <a:extLst>
              <a:ext uri="{FF2B5EF4-FFF2-40B4-BE49-F238E27FC236}">
                <a16:creationId xmlns:a16="http://schemas.microsoft.com/office/drawing/2014/main" id="{DE71BD96-EEA7-A5D5-38ED-D12C3BF6C3D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55950" y="834707"/>
            <a:ext cx="5880100" cy="518858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2928" y="333587"/>
            <a:ext cx="9045146" cy="2400657"/>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Class Diagram:</a:t>
            </a:r>
          </a:p>
          <a:p>
            <a:pPr algn="just">
              <a:lnSpc>
                <a:spcPct val="150000"/>
              </a:lnSpc>
            </a:pPr>
            <a:r>
              <a:rPr lang="en-US" sz="2000" dirty="0">
                <a:latin typeface="Times New Roman" panose="02020603050405020304" pitchFamily="18" charset="0"/>
                <a:cs typeface="Times New Roman" panose="02020603050405020304" pitchFamily="18" charset="0"/>
              </a:rPr>
              <a:t>In software engineering, a class diagram in the Unified Modeling Language (UML) is a type of static structure diagram that describes the structure of a system by showing the system's classes, their attributes, operations (or methods), and the relationships among the classes. It explains which class contains information</a:t>
            </a:r>
            <a:endParaRPr lang="en-IN" sz="2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BBA605B6-1C14-987A-27B2-3F6AE277F00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24474" y="3204097"/>
            <a:ext cx="5943600" cy="2521454"/>
          </a:xfrm>
          <a:prstGeom prst="rect">
            <a:avLst/>
          </a:prstGeom>
          <a:noFill/>
          <a:ln>
            <a:noFill/>
          </a:ln>
        </p:spPr>
      </p:pic>
    </p:spTree>
    <p:extLst>
      <p:ext uri="{BB962C8B-B14F-4D97-AF65-F5344CB8AC3E}">
        <p14:creationId xmlns:p14="http://schemas.microsoft.com/office/powerpoint/2010/main" val="18781646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4264" y="0"/>
            <a:ext cx="11943471" cy="2806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Sequence Diagram:</a:t>
            </a:r>
            <a:endParaRPr lang="en-US"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A sequence diagram in Unified Modeling Language (UML) is a kind of interaction diagram that shows how processes operate with one another and in what order. </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It is a construct of a Message Sequence Chart. Sequence diagrams are sometimes called event diagrams, event scenarios, and timing diagrams</a:t>
            </a:r>
            <a:endParaRPr lang="en-IN" sz="2000" dirty="0">
              <a:latin typeface="Times New Roman" panose="02020603050405020304" pitchFamily="18" charset="0"/>
              <a:cs typeface="Times New Roman" panose="02020603050405020304" pitchFamily="18" charset="0"/>
            </a:endParaRPr>
          </a:p>
          <a:p>
            <a:pPr marL="342900" lvl="0" indent="-342900" algn="just">
              <a:lnSpc>
                <a:spcPct val="150000"/>
              </a:lnSpc>
              <a:buFont typeface="Wingdings" panose="05000000000000000000" pitchFamily="2" charset="2"/>
              <a:buChar char="§"/>
            </a:pPr>
            <a:endParaRPr lang="en-US" sz="20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A15AF60-62C0-F579-BB7F-3EDB03A11641}"/>
              </a:ext>
            </a:extLst>
          </p:cNvPr>
          <p:cNvSpPr txBox="1"/>
          <p:nvPr/>
        </p:nvSpPr>
        <p:spPr>
          <a:xfrm>
            <a:off x="227429" y="5102981"/>
            <a:ext cx="3390314" cy="369332"/>
          </a:xfrm>
          <a:prstGeom prst="rect">
            <a:avLst/>
          </a:prstGeom>
          <a:noFill/>
        </p:spPr>
        <p:txBody>
          <a:bodyPr wrap="square">
            <a:spAutoFit/>
          </a:bodyPr>
          <a:lstStyle/>
          <a:p>
            <a:pPr algn="ctr"/>
            <a:r>
              <a:rPr lang="en-US" sz="1800" b="1" dirty="0">
                <a:latin typeface="Times New Roman" panose="02020603050405020304" pitchFamily="18" charset="0"/>
                <a:cs typeface="Times New Roman" panose="02020603050405020304" pitchFamily="18" charset="0"/>
              </a:rPr>
              <a:t>Figure: Sequence diagram</a:t>
            </a:r>
          </a:p>
        </p:txBody>
      </p:sp>
      <p:pic>
        <p:nvPicPr>
          <p:cNvPr id="2" name="Picture 1">
            <a:extLst>
              <a:ext uri="{FF2B5EF4-FFF2-40B4-BE49-F238E27FC236}">
                <a16:creationId xmlns:a16="http://schemas.microsoft.com/office/drawing/2014/main" id="{B310393E-B4DE-E2D1-B527-8168AFC3BF2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87240" y="3039134"/>
            <a:ext cx="5943600" cy="3255645"/>
          </a:xfrm>
          <a:prstGeom prst="rect">
            <a:avLst/>
          </a:prstGeom>
          <a:noFill/>
          <a:ln>
            <a:noFill/>
          </a:ln>
        </p:spPr>
      </p:pic>
    </p:spTree>
    <p:extLst>
      <p:ext uri="{BB962C8B-B14F-4D97-AF65-F5344CB8AC3E}">
        <p14:creationId xmlns:p14="http://schemas.microsoft.com/office/powerpoint/2010/main" val="3830366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3828" y="0"/>
            <a:ext cx="9848639" cy="3323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Collaboration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DD7DA89-E7A1-5B48-DF8F-D378BF65F762}"/>
              </a:ext>
            </a:extLst>
          </p:cNvPr>
          <p:cNvSpPr txBox="1"/>
          <p:nvPr/>
        </p:nvSpPr>
        <p:spPr>
          <a:xfrm>
            <a:off x="2750234" y="6278642"/>
            <a:ext cx="6105378" cy="369332"/>
          </a:xfrm>
          <a:prstGeom prst="rect">
            <a:avLst/>
          </a:prstGeom>
          <a:noFill/>
        </p:spPr>
        <p:txBody>
          <a:bodyPr wrap="square">
            <a:spAutoFit/>
          </a:bodyPr>
          <a:lstStyle/>
          <a:p>
            <a:pPr algn="ctr"/>
            <a:r>
              <a:rPr lang="en-US" sz="1800" b="1" dirty="0">
                <a:latin typeface="Times New Roman" panose="02020603050405020304" pitchFamily="18" charset="0"/>
                <a:cs typeface="Times New Roman" panose="02020603050405020304" pitchFamily="18" charset="0"/>
              </a:rPr>
              <a:t>Figure: Collaboration diagram</a:t>
            </a:r>
          </a:p>
        </p:txBody>
      </p:sp>
      <p:pic>
        <p:nvPicPr>
          <p:cNvPr id="2" name="Picture 1">
            <a:extLst>
              <a:ext uri="{FF2B5EF4-FFF2-40B4-BE49-F238E27FC236}">
                <a16:creationId xmlns:a16="http://schemas.microsoft.com/office/drawing/2014/main" id="{FB403064-A060-9302-795D-605100A7F70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22674" y="3551105"/>
            <a:ext cx="5943600" cy="1852295"/>
          </a:xfrm>
          <a:prstGeom prst="rect">
            <a:avLst/>
          </a:prstGeom>
          <a:noFill/>
          <a:ln>
            <a:noFill/>
          </a:ln>
        </p:spPr>
      </p:pic>
    </p:spTree>
    <p:extLst>
      <p:ext uri="{BB962C8B-B14F-4D97-AF65-F5344CB8AC3E}">
        <p14:creationId xmlns:p14="http://schemas.microsoft.com/office/powerpoint/2010/main" val="30963352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1458" y="152880"/>
            <a:ext cx="9045146" cy="240065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Deployment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FB7D19A-C0A4-676F-5F87-D3DB6BCFBCD6}"/>
              </a:ext>
            </a:extLst>
          </p:cNvPr>
          <p:cNvSpPr txBox="1"/>
          <p:nvPr/>
        </p:nvSpPr>
        <p:spPr>
          <a:xfrm>
            <a:off x="2855742" y="5674640"/>
            <a:ext cx="6105378" cy="369332"/>
          </a:xfrm>
          <a:prstGeom prst="rect">
            <a:avLst/>
          </a:prstGeom>
          <a:noFill/>
        </p:spPr>
        <p:txBody>
          <a:bodyPr wrap="square">
            <a:spAutoFit/>
          </a:bodyPr>
          <a:lstStyle/>
          <a:p>
            <a:pPr algn="ctr"/>
            <a:r>
              <a:rPr lang="en-US" sz="1800" b="1" dirty="0">
                <a:latin typeface="Times New Roman" panose="02020603050405020304" pitchFamily="18" charset="0"/>
                <a:cs typeface="Times New Roman" panose="02020603050405020304" pitchFamily="18" charset="0"/>
              </a:rPr>
              <a:t>Figure: Deployment diagram</a:t>
            </a:r>
          </a:p>
        </p:txBody>
      </p:sp>
      <p:pic>
        <p:nvPicPr>
          <p:cNvPr id="3" name="Picture 2">
            <a:extLst>
              <a:ext uri="{FF2B5EF4-FFF2-40B4-BE49-F238E27FC236}">
                <a16:creationId xmlns:a16="http://schemas.microsoft.com/office/drawing/2014/main" id="{69DEFE15-97CA-4989-7C1A-99554C17DE4F}"/>
              </a:ext>
            </a:extLst>
          </p:cNvPr>
          <p:cNvPicPr/>
          <p:nvPr/>
        </p:nvPicPr>
        <p:blipFill>
          <a:blip r:embed="rId2"/>
          <a:stretch>
            <a:fillRect/>
          </a:stretch>
        </p:blipFill>
        <p:spPr>
          <a:xfrm>
            <a:off x="3436512" y="3236313"/>
            <a:ext cx="5318975" cy="1755551"/>
          </a:xfrm>
          <a:prstGeom prst="rect">
            <a:avLst/>
          </a:prstGeom>
        </p:spPr>
      </p:pic>
    </p:spTree>
    <p:extLst>
      <p:ext uri="{BB962C8B-B14F-4D97-AF65-F5344CB8AC3E}">
        <p14:creationId xmlns:p14="http://schemas.microsoft.com/office/powerpoint/2010/main" val="5824385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23317" y="1997839"/>
            <a:ext cx="9045146" cy="286232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Activity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0225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60993" y="612483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Activity diagram</a:t>
            </a:r>
          </a:p>
        </p:txBody>
      </p:sp>
      <p:pic>
        <p:nvPicPr>
          <p:cNvPr id="3" name="Picture 2">
            <a:extLst>
              <a:ext uri="{FF2B5EF4-FFF2-40B4-BE49-F238E27FC236}">
                <a16:creationId xmlns:a16="http://schemas.microsoft.com/office/drawing/2014/main" id="{F14A9DC2-AF48-7C95-708F-BD8C5AD24B2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823595"/>
            <a:ext cx="5943600" cy="5210810"/>
          </a:xfrm>
          <a:prstGeom prst="rect">
            <a:avLst/>
          </a:prstGeom>
          <a:noFill/>
          <a:ln>
            <a:noFill/>
          </a:ln>
        </p:spPr>
      </p:pic>
    </p:spTree>
    <p:extLst>
      <p:ext uri="{BB962C8B-B14F-4D97-AF65-F5344CB8AC3E}">
        <p14:creationId xmlns:p14="http://schemas.microsoft.com/office/powerpoint/2010/main" val="5388595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91797" y="419163"/>
            <a:ext cx="9045146" cy="240065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Component Diagram</a:t>
            </a:r>
            <a:r>
              <a:rPr lang="en-US" sz="2000" dirty="0">
                <a:latin typeface="Times New Roman" panose="02020603050405020304" pitchFamily="18" charset="0"/>
                <a:cs typeface="Times New Roman" panose="02020603050405020304" pitchFamily="18" charset="0"/>
              </a:rPr>
              <a:t>:</a:t>
            </a:r>
          </a:p>
          <a:p>
            <a:pPr algn="just">
              <a:lnSpc>
                <a:spcPct val="150000"/>
              </a:lnSpc>
            </a:pPr>
            <a:r>
              <a:rPr lang="en-US" sz="2000" dirty="0">
                <a:latin typeface="Times New Roman" panose="02020603050405020304" pitchFamily="18" charset="0"/>
                <a:cs typeface="Times New Roman" panose="02020603050405020304" pitchFamily="18" charset="0"/>
              </a:rPr>
              <a:t>A component diagram, also known as a UML component diagram, describes the organization and wiring of the physical </a:t>
            </a:r>
            <a:r>
              <a:rPr lang="en-US" sz="2000" b="1" dirty="0">
                <a:latin typeface="Times New Roman" panose="02020603050405020304" pitchFamily="18" charset="0"/>
                <a:cs typeface="Times New Roman" panose="02020603050405020304" pitchFamily="18" charset="0"/>
              </a:rPr>
              <a:t>c</a:t>
            </a:r>
            <a:r>
              <a:rPr lang="en-US" sz="2000" dirty="0">
                <a:latin typeface="Times New Roman" panose="02020603050405020304" pitchFamily="18" charset="0"/>
                <a:cs typeface="Times New Roman" panose="02020603050405020304" pitchFamily="18" charset="0"/>
              </a:rPr>
              <a:t>omponents in a system. Component diagrams are often drawn to help model implementation details and double-check that every aspect of the system's required function is covered by planned development.</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B21F7E2-B805-2E93-83E8-18D234DEBB88}"/>
              </a:ext>
            </a:extLst>
          </p:cNvPr>
          <p:cNvSpPr txBox="1"/>
          <p:nvPr/>
        </p:nvSpPr>
        <p:spPr>
          <a:xfrm>
            <a:off x="4057642" y="6020493"/>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Component diagram</a:t>
            </a:r>
          </a:p>
        </p:txBody>
      </p:sp>
      <p:pic>
        <p:nvPicPr>
          <p:cNvPr id="8" name="Picture 7">
            <a:extLst>
              <a:ext uri="{FF2B5EF4-FFF2-40B4-BE49-F238E27FC236}">
                <a16:creationId xmlns:a16="http://schemas.microsoft.com/office/drawing/2014/main" id="{1E0FCE51-6F59-0D9D-ACA8-C53242004E1C}"/>
              </a:ext>
            </a:extLst>
          </p:cNvPr>
          <p:cNvPicPr>
            <a:picLocks noChangeAspect="1"/>
          </p:cNvPicPr>
          <p:nvPr/>
        </p:nvPicPr>
        <p:blipFill>
          <a:blip r:embed="rId2"/>
          <a:stretch>
            <a:fillRect/>
          </a:stretch>
        </p:blipFill>
        <p:spPr>
          <a:xfrm>
            <a:off x="2489982" y="3249638"/>
            <a:ext cx="6440658" cy="2557204"/>
          </a:xfrm>
          <a:prstGeom prst="rect">
            <a:avLst/>
          </a:prstGeom>
        </p:spPr>
      </p:pic>
    </p:spTree>
    <p:extLst>
      <p:ext uri="{BB962C8B-B14F-4D97-AF65-F5344CB8AC3E}">
        <p14:creationId xmlns:p14="http://schemas.microsoft.com/office/powerpoint/2010/main" val="1427746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783771" y="1470197"/>
            <a:ext cx="10554789" cy="470898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ER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 </a:t>
            </a:r>
            <a:endParaRPr lang="en-IN"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31684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60993" y="5765546"/>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ER diagram</a:t>
            </a:r>
          </a:p>
        </p:txBody>
      </p:sp>
      <p:pic>
        <p:nvPicPr>
          <p:cNvPr id="3" name="Picture 2">
            <a:extLst>
              <a:ext uri="{FF2B5EF4-FFF2-40B4-BE49-F238E27FC236}">
                <a16:creationId xmlns:a16="http://schemas.microsoft.com/office/drawing/2014/main" id="{09CBD708-5031-3C42-4492-A649FA92210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30315" y="1125415"/>
            <a:ext cx="7731369" cy="4290645"/>
          </a:xfrm>
          <a:prstGeom prst="rect">
            <a:avLst/>
          </a:prstGeom>
          <a:noFill/>
          <a:ln>
            <a:noFill/>
          </a:ln>
        </p:spPr>
      </p:pic>
    </p:spTree>
    <p:extLst>
      <p:ext uri="{BB962C8B-B14F-4D97-AF65-F5344CB8AC3E}">
        <p14:creationId xmlns:p14="http://schemas.microsoft.com/office/powerpoint/2010/main" val="17120039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8340" y="129405"/>
            <a:ext cx="9737124" cy="3785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DFD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endParaRPr lang="en-IN" sz="2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17FD6E9-8683-C1CE-AA62-666464DDB78D}"/>
              </a:ext>
            </a:extLst>
          </p:cNvPr>
          <p:cNvPicPr>
            <a:picLocks noChangeAspect="1"/>
          </p:cNvPicPr>
          <p:nvPr/>
        </p:nvPicPr>
        <p:blipFill rotWithShape="1">
          <a:blip r:embed="rId2"/>
          <a:srcRect l="7099" t="18117" r="9397" b="15284"/>
          <a:stretch/>
        </p:blipFill>
        <p:spPr>
          <a:xfrm>
            <a:off x="3446585" y="3915057"/>
            <a:ext cx="5613009" cy="2176255"/>
          </a:xfrm>
          <a:prstGeom prst="rect">
            <a:avLst/>
          </a:prstGeom>
        </p:spPr>
      </p:pic>
      <p:sp>
        <p:nvSpPr>
          <p:cNvPr id="5" name="TextBox 4">
            <a:extLst>
              <a:ext uri="{FF2B5EF4-FFF2-40B4-BE49-F238E27FC236}">
                <a16:creationId xmlns:a16="http://schemas.microsoft.com/office/drawing/2014/main" id="{A431FDA1-BDE7-A222-55ED-5BE3DEB419BB}"/>
              </a:ext>
            </a:extLst>
          </p:cNvPr>
          <p:cNvSpPr txBox="1"/>
          <p:nvPr/>
        </p:nvSpPr>
        <p:spPr>
          <a:xfrm>
            <a:off x="4693033" y="6328485"/>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Context Level diagram</a:t>
            </a:r>
          </a:p>
        </p:txBody>
      </p:sp>
      <p:sp>
        <p:nvSpPr>
          <p:cNvPr id="6" name="Rectangle 5">
            <a:extLst>
              <a:ext uri="{FF2B5EF4-FFF2-40B4-BE49-F238E27FC236}">
                <a16:creationId xmlns:a16="http://schemas.microsoft.com/office/drawing/2014/main" id="{D01C6636-D565-C2BF-8313-9567922C799A}"/>
              </a:ext>
            </a:extLst>
          </p:cNvPr>
          <p:cNvSpPr/>
          <p:nvPr/>
        </p:nvSpPr>
        <p:spPr>
          <a:xfrm>
            <a:off x="5941885" y="4803129"/>
            <a:ext cx="586154" cy="40011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9636286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97953" y="634441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FigureLevel-1 diagram</a:t>
            </a:r>
          </a:p>
        </p:txBody>
      </p:sp>
      <p:pic>
        <p:nvPicPr>
          <p:cNvPr id="4" name="Picture 3">
            <a:extLst>
              <a:ext uri="{FF2B5EF4-FFF2-40B4-BE49-F238E27FC236}">
                <a16:creationId xmlns:a16="http://schemas.microsoft.com/office/drawing/2014/main" id="{BFEC2186-2DBE-305C-B8B5-BA1C8EF1AE28}"/>
              </a:ext>
            </a:extLst>
          </p:cNvPr>
          <p:cNvPicPr>
            <a:picLocks noChangeAspect="1"/>
          </p:cNvPicPr>
          <p:nvPr/>
        </p:nvPicPr>
        <p:blipFill rotWithShape="1">
          <a:blip r:embed="rId2">
            <a:extLst>
              <a:ext uri="{28A0092B-C50C-407E-A947-70E740481C1C}">
                <a14:useLocalDpi xmlns:a14="http://schemas.microsoft.com/office/drawing/2010/main" val="0"/>
              </a:ext>
            </a:extLst>
          </a:blip>
          <a:srcRect l="5898" t="13835" r="3452" b="8426"/>
          <a:stretch/>
        </p:blipFill>
        <p:spPr bwMode="auto">
          <a:xfrm>
            <a:off x="1688123" y="1463040"/>
            <a:ext cx="7174523" cy="4276578"/>
          </a:xfrm>
          <a:prstGeom prst="rect">
            <a:avLst/>
          </a:prstGeom>
          <a:noFill/>
          <a:ln>
            <a:noFill/>
          </a:ln>
        </p:spPr>
      </p:pic>
    </p:spTree>
    <p:extLst>
      <p:ext uri="{BB962C8B-B14F-4D97-AF65-F5344CB8AC3E}">
        <p14:creationId xmlns:p14="http://schemas.microsoft.com/office/powerpoint/2010/main" val="16667931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55180" y="6276096"/>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Figure:Level-2 diagram</a:t>
            </a:r>
          </a:p>
        </p:txBody>
      </p:sp>
      <p:pic>
        <p:nvPicPr>
          <p:cNvPr id="4" name="Picture 3">
            <a:extLst>
              <a:ext uri="{FF2B5EF4-FFF2-40B4-BE49-F238E27FC236}">
                <a16:creationId xmlns:a16="http://schemas.microsoft.com/office/drawing/2014/main" id="{B166054C-A5FF-632E-8AFF-A18EEF1E2FD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36076" y="471218"/>
            <a:ext cx="8087751" cy="5127724"/>
          </a:xfrm>
          <a:prstGeom prst="rect">
            <a:avLst/>
          </a:prstGeom>
          <a:noFill/>
          <a:ln>
            <a:noFill/>
          </a:ln>
        </p:spPr>
      </p:pic>
    </p:spTree>
    <p:extLst>
      <p:ext uri="{BB962C8B-B14F-4D97-AF65-F5344CB8AC3E}">
        <p14:creationId xmlns:p14="http://schemas.microsoft.com/office/powerpoint/2010/main" val="11792352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8412" y="86636"/>
            <a:ext cx="11261124" cy="857671"/>
          </a:xfrm>
          <a:prstGeom prst="rect">
            <a:avLst/>
          </a:prstGeom>
        </p:spPr>
        <p:txBody>
          <a:bodyPr wrap="square">
            <a:spAutoFit/>
          </a:bodyPr>
          <a:lstStyle/>
          <a:p>
            <a:pPr algn="ctr">
              <a:lnSpc>
                <a:spcPct val="115000"/>
              </a:lnSpc>
              <a:spcAft>
                <a:spcPts val="1000"/>
              </a:spcAft>
            </a:pPr>
            <a:r>
              <a:rPr lang="en-IN" b="1" dirty="0">
                <a:latin typeface="Times New Roman" panose="02020603050405020304" pitchFamily="18" charset="0"/>
                <a:ea typeface="Calibri" panose="020F0502020204030204" pitchFamily="34" charset="0"/>
                <a:cs typeface="Times New Roman" panose="02020603050405020304" pitchFamily="18" charset="0"/>
              </a:rPr>
              <a:t>OUTPUT SCREEN SHOTS WITH DESCRIPTION.</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n-IN" b="1" dirty="0">
                <a:latin typeface="Times New Roman" panose="02020603050405020304" pitchFamily="18" charset="0"/>
                <a:ea typeface="Calibri" panose="020F0502020204030204" pitchFamily="34" charset="0"/>
                <a:cs typeface="Times New Roman" panose="02020603050405020304" pitchFamily="18" charset="0"/>
              </a:rPr>
              <a:t>Home Page: </a:t>
            </a:r>
            <a:r>
              <a:rPr lang="en-IN" dirty="0">
                <a:latin typeface="Times New Roman" panose="02020603050405020304" pitchFamily="18" charset="0"/>
                <a:ea typeface="Calibri" panose="020F0502020204030204" pitchFamily="34" charset="0"/>
                <a:cs typeface="Times New Roman" panose="02020603050405020304" pitchFamily="18" charset="0"/>
              </a:rPr>
              <a:t>Home page of the project</a:t>
            </a:r>
            <a:endParaRPr lang="en-US" sz="16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4E9FD6BF-EA7B-96AB-CDCD-EFA591F4259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8412" y="1336432"/>
            <a:ext cx="11037434" cy="5247248"/>
          </a:xfrm>
          <a:prstGeom prst="rect">
            <a:avLst/>
          </a:prstGeom>
          <a:noFill/>
          <a:ln>
            <a:noFill/>
          </a:ln>
        </p:spPr>
      </p:pic>
    </p:spTree>
    <p:extLst>
      <p:ext uri="{BB962C8B-B14F-4D97-AF65-F5344CB8AC3E}">
        <p14:creationId xmlns:p14="http://schemas.microsoft.com/office/powerpoint/2010/main" val="10038839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0C8873-D5E4-3E9F-A26C-F5EA34206290}"/>
              </a:ext>
            </a:extLst>
          </p:cNvPr>
          <p:cNvSpPr txBox="1"/>
          <p:nvPr/>
        </p:nvSpPr>
        <p:spPr>
          <a:xfrm>
            <a:off x="323556" y="254825"/>
            <a:ext cx="6105378" cy="390684"/>
          </a:xfrm>
          <a:prstGeom prst="rect">
            <a:avLst/>
          </a:prstGeom>
          <a:noFill/>
        </p:spPr>
        <p:txBody>
          <a:bodyPr wrap="square">
            <a:spAutoFit/>
          </a:bodyPr>
          <a:lstStyle/>
          <a:p>
            <a:pPr algn="just">
              <a:lnSpc>
                <a:spcPct val="115000"/>
              </a:lnSpc>
              <a:spcAft>
                <a:spcPts val="1000"/>
              </a:spcAft>
            </a:pPr>
            <a:r>
              <a:rPr lang="en-IN" b="1" dirty="0">
                <a:latin typeface="Times New Roman" panose="02020603050405020304" pitchFamily="18" charset="0"/>
                <a:ea typeface="Calibri" panose="020F0502020204030204" pitchFamily="34" charset="0"/>
                <a:cs typeface="Times New Roman" panose="02020603050405020304" pitchFamily="18" charset="0"/>
              </a:rPr>
              <a:t>About Page: </a:t>
            </a:r>
            <a:r>
              <a:rPr lang="en-IN" dirty="0">
                <a:latin typeface="Times New Roman" panose="02020603050405020304" pitchFamily="18" charset="0"/>
                <a:ea typeface="Calibri" panose="020F0502020204030204" pitchFamily="34" charset="0"/>
                <a:cs typeface="Times New Roman" panose="02020603050405020304" pitchFamily="18" charset="0"/>
              </a:rPr>
              <a:t>About</a:t>
            </a:r>
            <a:r>
              <a:rPr lang="en-IN" b="1" dirty="0">
                <a:latin typeface="Times New Roman" panose="02020603050405020304" pitchFamily="18" charset="0"/>
                <a:ea typeface="Calibri" panose="020F0502020204030204" pitchFamily="34" charset="0"/>
                <a:cs typeface="Times New Roman" panose="02020603050405020304" pitchFamily="18" charset="0"/>
              </a:rPr>
              <a:t> </a:t>
            </a:r>
            <a:r>
              <a:rPr lang="en-IN" dirty="0">
                <a:latin typeface="Times New Roman" panose="02020603050405020304" pitchFamily="18" charset="0"/>
                <a:ea typeface="Calibri" panose="020F0502020204030204" pitchFamily="34" charset="0"/>
                <a:cs typeface="Times New Roman" panose="02020603050405020304" pitchFamily="18" charset="0"/>
              </a:rPr>
              <a:t>page of the project</a:t>
            </a:r>
            <a:endParaRPr lang="en-US" sz="16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209B52D5-4A2A-68F2-0D27-6502A8B1DAF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8474" y="970672"/>
            <a:ext cx="11816861" cy="5632504"/>
          </a:xfrm>
          <a:prstGeom prst="rect">
            <a:avLst/>
          </a:prstGeom>
          <a:noFill/>
          <a:ln>
            <a:noFill/>
          </a:ln>
        </p:spPr>
      </p:pic>
    </p:spTree>
    <p:extLst>
      <p:ext uri="{BB962C8B-B14F-4D97-AF65-F5344CB8AC3E}">
        <p14:creationId xmlns:p14="http://schemas.microsoft.com/office/powerpoint/2010/main" val="24497157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7220" y="127886"/>
            <a:ext cx="8880389" cy="463397"/>
          </a:xfrm>
          <a:prstGeom prst="rect">
            <a:avLst/>
          </a:prstGeom>
        </p:spPr>
        <p:txBody>
          <a:bodyPr wrap="square">
            <a:spAutoFit/>
          </a:bodyPr>
          <a:lstStyle/>
          <a:p>
            <a:pPr algn="just">
              <a:lnSpc>
                <a:spcPct val="150000"/>
              </a:lnSpc>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Register Page: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User need register with his/her credentials.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93100077-D2FB-2EED-4EF9-635C5F2E7FB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7625" y="858128"/>
            <a:ext cx="11408898" cy="5871985"/>
          </a:xfrm>
          <a:prstGeom prst="rect">
            <a:avLst/>
          </a:prstGeom>
          <a:noFill/>
          <a:ln>
            <a:noFill/>
          </a:ln>
        </p:spPr>
      </p:pic>
    </p:spTree>
    <p:extLst>
      <p:ext uri="{BB962C8B-B14F-4D97-AF65-F5344CB8AC3E}">
        <p14:creationId xmlns:p14="http://schemas.microsoft.com/office/powerpoint/2010/main" val="17404056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9393" y="427057"/>
            <a:ext cx="5045292" cy="388696"/>
          </a:xfrm>
          <a:prstGeom prst="rect">
            <a:avLst/>
          </a:prstGeom>
        </p:spPr>
        <p:txBody>
          <a:bodyPr wrap="none">
            <a:spAutoFit/>
          </a:bodyPr>
          <a:lstStyle/>
          <a:p>
            <a:pPr>
              <a:lnSpc>
                <a:spcPct val="107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User Login: User can login with valid credentials.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3D1EC172-9B7C-0285-B714-C5AF2ADEFEF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9393" y="1209823"/>
            <a:ext cx="11493739" cy="5387926"/>
          </a:xfrm>
          <a:prstGeom prst="rect">
            <a:avLst/>
          </a:prstGeom>
          <a:noFill/>
          <a:ln>
            <a:noFill/>
          </a:ln>
        </p:spPr>
      </p:pic>
    </p:spTree>
    <p:extLst>
      <p:ext uri="{BB962C8B-B14F-4D97-AF65-F5344CB8AC3E}">
        <p14:creationId xmlns:p14="http://schemas.microsoft.com/office/powerpoint/2010/main" val="40218827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884894" y="330599"/>
            <a:ext cx="6248505" cy="463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just">
              <a:lnSpc>
                <a:spcPct val="150000"/>
              </a:lnSpc>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Prediction: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rPr>
              <a:t>User can give a input and view The Predicted Result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3"/>
          <p:cNvSpPr>
            <a:spLocks noChangeArrowheads="1"/>
          </p:cNvSpPr>
          <p:nvPr/>
        </p:nvSpPr>
        <p:spPr bwMode="auto">
          <a:xfrm>
            <a:off x="6326627" y="6219624"/>
            <a:ext cx="65" cy="3077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25F065A5-F38B-2C7A-499E-D6F9ED4D383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7483" y="1069137"/>
            <a:ext cx="11437034" cy="5458264"/>
          </a:xfrm>
          <a:prstGeom prst="rect">
            <a:avLst/>
          </a:prstGeom>
          <a:noFill/>
          <a:ln>
            <a:noFill/>
          </a:ln>
        </p:spPr>
      </p:pic>
    </p:spTree>
    <p:extLst>
      <p:ext uri="{BB962C8B-B14F-4D97-AF65-F5344CB8AC3E}">
        <p14:creationId xmlns:p14="http://schemas.microsoft.com/office/powerpoint/2010/main" val="13373784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FE2E27F-2630-ED16-A1C7-8C95BF2005E2}"/>
              </a:ext>
            </a:extLst>
          </p:cNvPr>
          <p:cNvSpPr txBox="1"/>
          <p:nvPr/>
        </p:nvSpPr>
        <p:spPr>
          <a:xfrm>
            <a:off x="0" y="598668"/>
            <a:ext cx="9932300" cy="5736250"/>
          </a:xfrm>
          <a:prstGeom prst="rect">
            <a:avLst/>
          </a:prstGeom>
          <a:noFill/>
        </p:spPr>
        <p:txBody>
          <a:bodyPr wrap="square">
            <a:spAutoFit/>
          </a:bodyPr>
          <a:lstStyle/>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1.	User: </a:t>
            </a:r>
          </a:p>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1.1	Input Model:</a:t>
            </a:r>
          </a:p>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The user must provide input values for the certain fields in order to get results.</a:t>
            </a:r>
          </a:p>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1.2	View Results:</a:t>
            </a:r>
          </a:p>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User view’s the generated results from the model.</a:t>
            </a:r>
          </a:p>
          <a:p>
            <a:pPr lvl="0">
              <a:lnSpc>
                <a:spcPct val="150000"/>
              </a:lnSpc>
              <a:buClr>
                <a:srgbClr val="000000"/>
              </a:buClr>
            </a:pPr>
            <a:endParaRPr lang="en-US" sz="2000" b="1"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2.	System</a:t>
            </a:r>
          </a:p>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2.1	Pre-processing:</a:t>
            </a:r>
          </a:p>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Data need to be pre-processed according the </a:t>
            </a: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Liabrary</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a:t>
            </a:r>
          </a:p>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2.2	Generated Score:</a:t>
            </a:r>
          </a:p>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Here generate the result</a:t>
            </a:r>
          </a:p>
          <a:p>
            <a:pPr marL="457200">
              <a:lnSpc>
                <a:spcPct val="150000"/>
              </a:lnSpc>
            </a:pPr>
            <a:r>
              <a:rPr lang="en-US" sz="12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50000"/>
              </a:lnSpc>
              <a:spcAft>
                <a:spcPts val="1000"/>
              </a:spcAft>
            </a:pPr>
            <a:r>
              <a:rPr lang="en-US"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919FDAFE-55EF-D24D-8AD8-026344D7CD0B}"/>
              </a:ext>
            </a:extLst>
          </p:cNvPr>
          <p:cNvSpPr txBox="1"/>
          <p:nvPr/>
        </p:nvSpPr>
        <p:spPr>
          <a:xfrm>
            <a:off x="4375053" y="-225084"/>
            <a:ext cx="6105378" cy="823752"/>
          </a:xfrm>
          <a:prstGeom prst="rect">
            <a:avLst/>
          </a:prstGeom>
          <a:noFill/>
        </p:spPr>
        <p:txBody>
          <a:bodyPr wrap="square">
            <a:spAutoFit/>
          </a:bodyPr>
          <a:lstStyle/>
          <a:p>
            <a:pPr>
              <a:lnSpc>
                <a:spcPct val="150000"/>
              </a:lnSpc>
            </a:pPr>
            <a:r>
              <a:rPr lang="en-US" sz="3600" b="1" dirty="0">
                <a:solidFill>
                  <a:schemeClr val="tx2"/>
                </a:solidFill>
                <a:latin typeface="Times New Roman" panose="02020603050405020304" pitchFamily="18" charset="0"/>
                <a:cs typeface="Times New Roman" panose="02020603050405020304" pitchFamily="18" charset="0"/>
              </a:rPr>
              <a:t>MODULES</a:t>
            </a:r>
          </a:p>
        </p:txBody>
      </p:sp>
    </p:spTree>
    <p:extLst>
      <p:ext uri="{BB962C8B-B14F-4D97-AF65-F5344CB8AC3E}">
        <p14:creationId xmlns:p14="http://schemas.microsoft.com/office/powerpoint/2010/main" val="16606697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19" y="241861"/>
            <a:ext cx="4249447" cy="646331"/>
          </a:xfrm>
          <a:prstGeom prst="rect">
            <a:avLst/>
          </a:prstGeom>
        </p:spPr>
        <p:txBody>
          <a:bodyPr wrap="square">
            <a:spAutoFit/>
          </a:bodyPr>
          <a:lstStyle/>
          <a:p>
            <a:r>
              <a:rPr lang="en-US" sz="3600" b="1" dirty="0">
                <a:latin typeface="Times New Roman" panose="02020603050405020304" pitchFamily="18" charset="0"/>
                <a:cs typeface="Times New Roman" panose="02020603050405020304" pitchFamily="18" charset="0"/>
              </a:rPr>
              <a:t>        CONCLUSION</a:t>
            </a:r>
            <a:endParaRPr lang="en-US" sz="3600" b="1" dirty="0"/>
          </a:p>
        </p:txBody>
      </p:sp>
      <p:sp>
        <p:nvSpPr>
          <p:cNvPr id="4" name="Rectangle 1">
            <a:extLst>
              <a:ext uri="{FF2B5EF4-FFF2-40B4-BE49-F238E27FC236}">
                <a16:creationId xmlns:a16="http://schemas.microsoft.com/office/drawing/2014/main" id="{8063B3AB-E822-DF58-F489-5B2584EB4270}"/>
              </a:ext>
            </a:extLst>
          </p:cNvPr>
          <p:cNvSpPr>
            <a:spLocks noChangeArrowheads="1"/>
          </p:cNvSpPr>
          <p:nvPr/>
        </p:nvSpPr>
        <p:spPr bwMode="auto">
          <a:xfrm>
            <a:off x="967991" y="11536711"/>
            <a:ext cx="9114143" cy="343170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In conclusion, the analysis and prediction of crime hotspots using machine learning with a stacked generalization approach represent a significant advancement in law enforcement strategies. This innovative approach harnesses the power of diverse machine learning models to provide a comprehensive understanding of crime patterns. By employing stacked generalization, the system combines the strengths of multiple algorithms, enhancing predictive accuracy and reliability. The findings empower law enforcement agencies with actionable insights into crime-prone areas, enabling proactive measures for crime prevention and resource allocation. This research contributes to the evolving landscape of predictive policing, fostering a safer environment through the synergy of data-driven insights and advanced machine learning techniques in crime hotspot analysis.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3" name="Rectangle 1">
            <a:extLst>
              <a:ext uri="{FF2B5EF4-FFF2-40B4-BE49-F238E27FC236}">
                <a16:creationId xmlns:a16="http://schemas.microsoft.com/office/drawing/2014/main" id="{1993C6B0-1D05-73DC-43F4-2B2EA0979BB7}"/>
              </a:ext>
            </a:extLst>
          </p:cNvPr>
          <p:cNvSpPr>
            <a:spLocks noChangeArrowheads="1"/>
          </p:cNvSpPr>
          <p:nvPr/>
        </p:nvSpPr>
        <p:spPr bwMode="auto">
          <a:xfrm>
            <a:off x="618977" y="1101103"/>
            <a:ext cx="8637564" cy="506914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In conclusion, the integration of the Google Text-to-Speech (</a:t>
            </a:r>
            <a:r>
              <a:rPr kumimoji="0" lang="en-US" altLang="en-US" sz="2000" b="0" i="0" u="none" strike="noStrike" cap="none" normalizeH="0" baseline="0" dirty="0" err="1">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gTTS</a:t>
            </a:r>
            <a:r>
              <a:rPr kumimoji="0" lang="en-US" altLang="en-US" sz="2000" b="0" i="0" u="none" strike="noStrike" cap="none" normalizeH="0" baseline="0" dirty="0">
                <a:ln>
                  <a:noFill/>
                </a:ln>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Python library offers a powerful solution for enhancing communication at Indian railway stations. By converting written information into audible announcements across multiple languages and dialects, this system significantly improves accessibility and convenience for passengers. Its real-time text-to-speech conversion capability ensures dynamic and accurate information delivery, addressing the challenges of noisy environments typical in station settings. Moreover, its adaptability for mobile platforms underscores its relevance in modern railway operations. Overall, this project presents a robust tool for efficient information dissemination, aligning with the evolving needs of the Indian Railways and fostering a more inclusive travel experience.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61931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4326" y="266061"/>
            <a:ext cx="5557932" cy="646331"/>
          </a:xfrm>
          <a:prstGeom prst="rect">
            <a:avLst/>
          </a:prstGeom>
        </p:spPr>
        <p:txBody>
          <a:bodyPr wrap="none">
            <a:spAutoFit/>
          </a:bodyPr>
          <a:lstStyle/>
          <a:p>
            <a:r>
              <a:rPr lang="en-US" sz="3600" b="1" dirty="0">
                <a:latin typeface="Times New Roman" panose="02020603050405020304" pitchFamily="18" charset="0"/>
                <a:cs typeface="Times New Roman" panose="02020603050405020304" pitchFamily="18" charset="0"/>
              </a:rPr>
              <a:t>FUTURE ENHACEMENT</a:t>
            </a:r>
            <a:endParaRPr lang="en-US" sz="3600" b="1" dirty="0"/>
          </a:p>
        </p:txBody>
      </p:sp>
      <p:sp>
        <p:nvSpPr>
          <p:cNvPr id="3" name="Rectangle 2"/>
          <p:cNvSpPr/>
          <p:nvPr/>
        </p:nvSpPr>
        <p:spPr>
          <a:xfrm>
            <a:off x="613294" y="1170163"/>
            <a:ext cx="9558644" cy="4197944"/>
          </a:xfrm>
          <a:prstGeom prst="rect">
            <a:avLst/>
          </a:prstGeom>
        </p:spPr>
        <p:txBody>
          <a:bodyPr wrap="square">
            <a:spAutoFit/>
          </a:bodyPr>
          <a:lstStyle/>
          <a:p>
            <a:pPr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Future enhancements for the natural language translation engine could include integrating machine learning algorithms to improve translation accuracy and adaptability to regional dialects. Additionally, implementing voice recognition technology would enable interactive features, allowing passengers to ask questions and receive spoken responses in their preferred language. Integration with real-time data feeds could also provide up-to-date information on train schedules, delays, and platform changes, enhancing the system's utility and reliability. Furthermore, incorporating sentiment analysis could help tailor announcements to better meet passengers' needs and preferences, fostering a more personalized and user-friendly experience at railway stations.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87457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0156" y="0"/>
            <a:ext cx="8911687" cy="518616"/>
          </a:xfrm>
        </p:spPr>
        <p:txBody>
          <a:bodyPr>
            <a:noAutofit/>
          </a:bodyPr>
          <a:lstStyle/>
          <a:p>
            <a:pPr algn="ctr"/>
            <a:r>
              <a:rPr lang="en-US" b="1" dirty="0">
                <a:solidFill>
                  <a:schemeClr val="tx2"/>
                </a:solidFill>
                <a:latin typeface="Times New Roman" panose="02020603050405020304" pitchFamily="18" charset="0"/>
                <a:cs typeface="Times New Roman" panose="02020603050405020304" pitchFamily="18" charset="0"/>
              </a:rPr>
              <a:t>REFERENCES</a:t>
            </a:r>
            <a:endParaRPr lang="en-US" dirty="0">
              <a:solidFill>
                <a:schemeClr val="tx2"/>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64214" y="518616"/>
            <a:ext cx="11468241" cy="6339384"/>
          </a:xfrm>
        </p:spPr>
        <p:txBody>
          <a:bodyPr>
            <a:noAutofit/>
          </a:bodyPr>
          <a:lstStyle/>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1. Bar-Hillel, Y. (1951). The present state of research on mechanical translation. American Documentation 2 (4): 229-237.</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2. Bar-Hillel, Y. (1960). The present status of automatic translation of languages. Advances in Computers 1: 91-163.</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3. Beyer, R. T. (1965). Hurdling the language barrier. Physics Today 18 (1): 46-52.</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4. Birch, A., Osborne, M. (2011). Reordering metrics for MT.</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5. </a:t>
            </a:r>
            <a:r>
              <a:rPr lang="en-US" sz="2000" dirty="0" err="1">
                <a:solidFill>
                  <a:srgbClr val="000000"/>
                </a:solidFill>
                <a:effectLst/>
                <a:latin typeface="Times New Roman" panose="02020603050405020304" pitchFamily="18" charset="0"/>
                <a:ea typeface="Times New Roman" panose="02020603050405020304" pitchFamily="18" charset="0"/>
              </a:rPr>
              <a:t>Bisbey</a:t>
            </a:r>
            <a:r>
              <a:rPr lang="en-US" sz="2000" dirty="0">
                <a:solidFill>
                  <a:srgbClr val="000000"/>
                </a:solidFill>
                <a:effectLst/>
                <a:latin typeface="Times New Roman" panose="02020603050405020304" pitchFamily="18" charset="0"/>
                <a:ea typeface="Times New Roman" panose="02020603050405020304" pitchFamily="18" charset="0"/>
              </a:rPr>
              <a:t>, R., Kay, M. (1972). The MIND translation system: a study in man-machine collaboration. Technical Report P-4786, Rand Corp.</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6. </a:t>
            </a:r>
            <a:r>
              <a:rPr lang="en-US" sz="2000" dirty="0" err="1">
                <a:solidFill>
                  <a:srgbClr val="000000"/>
                </a:solidFill>
                <a:effectLst/>
                <a:latin typeface="Times New Roman" panose="02020603050405020304" pitchFamily="18" charset="0"/>
                <a:ea typeface="Times New Roman" panose="02020603050405020304" pitchFamily="18" charset="0"/>
              </a:rPr>
              <a:t>Carbonell</a:t>
            </a:r>
            <a:r>
              <a:rPr lang="en-US" sz="2000" dirty="0">
                <a:solidFill>
                  <a:srgbClr val="000000"/>
                </a:solidFill>
                <a:effectLst/>
                <a:latin typeface="Times New Roman" panose="02020603050405020304" pitchFamily="18" charset="0"/>
                <a:ea typeface="Times New Roman" panose="02020603050405020304" pitchFamily="18" charset="0"/>
              </a:rPr>
              <a:t>, J. (1970). AI in CAI: An artificial-intelligence approach to computer-assisted instruction. IEEE Transactions on Man-Machine Systems 11 (4): 190-202.</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7. Card, S. K., Moran, T. P., Newell, A. (1983). The Psychology of Human-Computer Interaction. Lawrence Erlbaum Associates.</a:t>
            </a:r>
          </a:p>
          <a:p>
            <a:pPr marL="0" indent="0" algn="just">
              <a:lnSpc>
                <a:spcPct val="150000"/>
              </a:lnSpc>
              <a:buNone/>
            </a:pPr>
            <a:endParaRPr lang="en-IN"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503796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8812" y="0"/>
            <a:ext cx="10185009" cy="6961970"/>
          </a:xfrm>
          <a:prstGeom prst="rect">
            <a:avLst/>
          </a:prstGeom>
        </p:spPr>
        <p:txBody>
          <a:bodyPr wrap="square">
            <a:spAutoFit/>
          </a:bodyPr>
          <a:lstStyle/>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8. Church, K. W., </a:t>
            </a:r>
            <a:r>
              <a:rPr lang="en-US" sz="2000" dirty="0" err="1">
                <a:solidFill>
                  <a:srgbClr val="000000"/>
                </a:solidFill>
                <a:effectLst/>
                <a:latin typeface="Times New Roman" panose="02020603050405020304" pitchFamily="18" charset="0"/>
                <a:ea typeface="Times New Roman" panose="02020603050405020304" pitchFamily="18" charset="0"/>
              </a:rPr>
              <a:t>Hovy</a:t>
            </a:r>
            <a:r>
              <a:rPr lang="en-US" sz="2000" dirty="0">
                <a:solidFill>
                  <a:srgbClr val="000000"/>
                </a:solidFill>
                <a:effectLst/>
                <a:latin typeface="Times New Roman" panose="02020603050405020304" pitchFamily="18" charset="0"/>
                <a:ea typeface="Times New Roman" panose="02020603050405020304" pitchFamily="18" charset="0"/>
              </a:rPr>
              <a:t>, E. (1993). Good applications for crummy machine translation. Machine Translation 8: 239-258.</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9. </a:t>
            </a:r>
            <a:r>
              <a:rPr lang="en-US" sz="2000" dirty="0" err="1">
                <a:solidFill>
                  <a:srgbClr val="000000"/>
                </a:solidFill>
                <a:effectLst/>
                <a:latin typeface="Times New Roman" panose="02020603050405020304" pitchFamily="18" charset="0"/>
                <a:ea typeface="Times New Roman" panose="02020603050405020304" pitchFamily="18" charset="0"/>
              </a:rPr>
              <a:t>Debons</a:t>
            </a:r>
            <a:r>
              <a:rPr lang="en-US" sz="2000" dirty="0">
                <a:solidFill>
                  <a:srgbClr val="000000"/>
                </a:solidFill>
                <a:effectLst/>
                <a:latin typeface="Times New Roman" panose="02020603050405020304" pitchFamily="18" charset="0"/>
                <a:ea typeface="Times New Roman" panose="02020603050405020304" pitchFamily="18" charset="0"/>
              </a:rPr>
              <a:t>, A., Cameron, W. J. (Eds.) (1975). Perspectives in Information Science, Volume 10 of the NATO Advanced Study Institutes Series. Springer.</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10. </a:t>
            </a:r>
            <a:r>
              <a:rPr lang="en-US" sz="2000" dirty="0" err="1">
                <a:solidFill>
                  <a:srgbClr val="000000"/>
                </a:solidFill>
                <a:effectLst/>
                <a:latin typeface="Times New Roman" panose="02020603050405020304" pitchFamily="18" charset="0"/>
                <a:ea typeface="Times New Roman" panose="02020603050405020304" pitchFamily="18" charset="0"/>
              </a:rPr>
              <a:t>Denkowski</a:t>
            </a:r>
            <a:r>
              <a:rPr lang="en-US" sz="2000" dirty="0">
                <a:solidFill>
                  <a:srgbClr val="000000"/>
                </a:solidFill>
                <a:effectLst/>
                <a:latin typeface="Times New Roman" panose="02020603050405020304" pitchFamily="18" charset="0"/>
                <a:ea typeface="Times New Roman" panose="02020603050405020304" pitchFamily="18" charset="0"/>
              </a:rPr>
              <a:t>, M., </a:t>
            </a:r>
            <a:r>
              <a:rPr lang="en-US" sz="2000" dirty="0" err="1">
                <a:solidFill>
                  <a:srgbClr val="000000"/>
                </a:solidFill>
                <a:effectLst/>
                <a:latin typeface="Times New Roman" panose="02020603050405020304" pitchFamily="18" charset="0"/>
                <a:ea typeface="Times New Roman" panose="02020603050405020304" pitchFamily="18" charset="0"/>
              </a:rPr>
              <a:t>Lavie</a:t>
            </a:r>
            <a:r>
              <a:rPr lang="en-US" sz="2000" dirty="0">
                <a:solidFill>
                  <a:srgbClr val="000000"/>
                </a:solidFill>
                <a:effectLst/>
                <a:latin typeface="Times New Roman" panose="02020603050405020304" pitchFamily="18" charset="0"/>
                <a:ea typeface="Times New Roman" panose="02020603050405020304" pitchFamily="18" charset="0"/>
              </a:rPr>
              <a:t>, A, </a:t>
            </a:r>
            <a:r>
              <a:rPr lang="en-US" sz="2000" dirty="0" err="1">
                <a:solidFill>
                  <a:srgbClr val="000000"/>
                </a:solidFill>
                <a:effectLst/>
                <a:latin typeface="Times New Roman" panose="02020603050405020304" pitchFamily="18" charset="0"/>
                <a:ea typeface="Times New Roman" panose="02020603050405020304" pitchFamily="18" charset="0"/>
              </a:rPr>
              <a:t>Lacruz</a:t>
            </a:r>
            <a:r>
              <a:rPr lang="en-US" sz="2000" dirty="0">
                <a:solidFill>
                  <a:srgbClr val="000000"/>
                </a:solidFill>
                <a:effectLst/>
                <a:latin typeface="Times New Roman" panose="02020603050405020304" pitchFamily="18" charset="0"/>
                <a:ea typeface="Times New Roman" panose="02020603050405020304" pitchFamily="18" charset="0"/>
              </a:rPr>
              <a:t>, I., Dyer, C. (2014). Real time adaptive machine translation for post-editing with </a:t>
            </a:r>
            <a:r>
              <a:rPr lang="en-US" sz="2000" dirty="0" err="1">
                <a:solidFill>
                  <a:srgbClr val="000000"/>
                </a:solidFill>
                <a:effectLst/>
                <a:latin typeface="Times New Roman" panose="02020603050405020304" pitchFamily="18" charset="0"/>
                <a:ea typeface="Times New Roman" panose="02020603050405020304" pitchFamily="18" charset="0"/>
              </a:rPr>
              <a:t>cdec</a:t>
            </a:r>
            <a:r>
              <a:rPr lang="en-US" sz="2000" dirty="0">
                <a:solidFill>
                  <a:srgbClr val="000000"/>
                </a:solidFill>
                <a:effectLst/>
                <a:latin typeface="Times New Roman" panose="02020603050405020304" pitchFamily="18" charset="0"/>
                <a:ea typeface="Times New Roman" panose="02020603050405020304" pitchFamily="18" charset="0"/>
              </a:rPr>
              <a:t> and </a:t>
            </a:r>
            <a:r>
              <a:rPr lang="en-US" sz="2000" dirty="0" err="1">
                <a:solidFill>
                  <a:srgbClr val="000000"/>
                </a:solidFill>
                <a:effectLst/>
                <a:latin typeface="Times New Roman" panose="02020603050405020304" pitchFamily="18" charset="0"/>
                <a:ea typeface="Times New Roman" panose="02020603050405020304" pitchFamily="18" charset="0"/>
              </a:rPr>
              <a:t>TransCenter</a:t>
            </a:r>
            <a:r>
              <a:rPr lang="en-US" sz="2000" dirty="0">
                <a:solidFill>
                  <a:srgbClr val="000000"/>
                </a:solidFill>
                <a:effectLst/>
                <a:latin typeface="Times New Roman" panose="02020603050405020304" pitchFamily="18" charset="0"/>
                <a:ea typeface="Times New Roman" panose="02020603050405020304" pitchFamily="18" charset="0"/>
              </a:rPr>
              <a:t>. In Proceedings of the EACL 2014 Workshop on Humans and Computer-assisted Translation.</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11. Engelbart, D. C. (1962). Augmenting human intellect: A conceptual framework. Technical report, SRI Summary Report AFOSR-3223.</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12. Foster, G., </a:t>
            </a:r>
            <a:r>
              <a:rPr lang="en-US" sz="2000" dirty="0" err="1">
                <a:solidFill>
                  <a:srgbClr val="000000"/>
                </a:solidFill>
                <a:effectLst/>
                <a:latin typeface="Times New Roman" panose="02020603050405020304" pitchFamily="18" charset="0"/>
                <a:ea typeface="Times New Roman" panose="02020603050405020304" pitchFamily="18" charset="0"/>
              </a:rPr>
              <a:t>Langlais</a:t>
            </a:r>
            <a:r>
              <a:rPr lang="en-US" sz="2000" dirty="0">
                <a:solidFill>
                  <a:srgbClr val="000000"/>
                </a:solidFill>
                <a:effectLst/>
                <a:latin typeface="Times New Roman" panose="02020603050405020304" pitchFamily="18" charset="0"/>
                <a:ea typeface="Times New Roman" panose="02020603050405020304" pitchFamily="18" charset="0"/>
              </a:rPr>
              <a:t>, P., Lapalme, G. (2002). </a:t>
            </a:r>
            <a:r>
              <a:rPr lang="en-US" sz="2000" dirty="0" err="1">
                <a:solidFill>
                  <a:srgbClr val="000000"/>
                </a:solidFill>
                <a:effectLst/>
                <a:latin typeface="Times New Roman" panose="02020603050405020304" pitchFamily="18" charset="0"/>
                <a:ea typeface="Times New Roman" panose="02020603050405020304" pitchFamily="18" charset="0"/>
              </a:rPr>
              <a:t>TransType</a:t>
            </a:r>
            <a:r>
              <a:rPr lang="en-US" sz="2000" dirty="0">
                <a:solidFill>
                  <a:srgbClr val="000000"/>
                </a:solidFill>
                <a:effectLst/>
                <a:latin typeface="Times New Roman" panose="02020603050405020304" pitchFamily="18" charset="0"/>
                <a:ea typeface="Times New Roman" panose="02020603050405020304" pitchFamily="18" charset="0"/>
              </a:rPr>
              <a:t>: text prediction for translators. In Proceedings of ACL Demonstrations, 93-94.</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13. Green, S., Wang, S., Chuang, J., Heer, J. Schuster, S., Manning, C. D. (2014). Human effort and machine learnability in computer aided translation. In Proceedings of EMNLP, 1225-1236.</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14. </a:t>
            </a:r>
            <a:r>
              <a:rPr lang="en-US" sz="2000" dirty="0" err="1">
                <a:solidFill>
                  <a:srgbClr val="000000"/>
                </a:solidFill>
                <a:effectLst/>
                <a:latin typeface="Times New Roman" panose="02020603050405020304" pitchFamily="18" charset="0"/>
                <a:ea typeface="Times New Roman" panose="02020603050405020304" pitchFamily="18" charset="0"/>
              </a:rPr>
              <a:t>Grudin</a:t>
            </a:r>
            <a:r>
              <a:rPr lang="en-US" sz="2000" dirty="0">
                <a:solidFill>
                  <a:srgbClr val="000000"/>
                </a:solidFill>
                <a:effectLst/>
                <a:latin typeface="Times New Roman" panose="02020603050405020304" pitchFamily="18" charset="0"/>
                <a:ea typeface="Times New Roman" panose="02020603050405020304" pitchFamily="18" charset="0"/>
              </a:rPr>
              <a:t>, J. (2009). AI and HCI: Two fields divided by a common focus. AI Magazine 30 (4), 48-57.</a:t>
            </a:r>
          </a:p>
        </p:txBody>
      </p:sp>
    </p:spTree>
    <p:extLst>
      <p:ext uri="{BB962C8B-B14F-4D97-AF65-F5344CB8AC3E}">
        <p14:creationId xmlns:p14="http://schemas.microsoft.com/office/powerpoint/2010/main" val="330918178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1671</TotalTime>
  <Words>3714</Words>
  <Application>Microsoft Office PowerPoint</Application>
  <PresentationFormat>Widescreen</PresentationFormat>
  <Paragraphs>204</Paragraphs>
  <Slides>46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Arial</vt:lpstr>
      <vt:lpstr>Calibri</vt:lpstr>
      <vt:lpstr>Times New Roman</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BLOCK DIAGRAM</vt:lpstr>
      <vt:lpstr>PowerPoint Presentation</vt:lpstr>
      <vt:lpstr>PowerPoint Presentation</vt:lpstr>
      <vt:lpstr>PowerPoint Presentation</vt:lpstr>
      <vt:lpstr>PowerPoint Presentation</vt:lpstr>
      <vt:lpstr>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PREETHI DESAI</dc:creator>
  <cp:lastModifiedBy>Adithya M</cp:lastModifiedBy>
  <cp:revision>203</cp:revision>
  <dcterms:created xsi:type="dcterms:W3CDTF">2022-11-19T11:35:00Z</dcterms:created>
  <dcterms:modified xsi:type="dcterms:W3CDTF">2024-04-06T13:12:49Z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A1EC5F6991B543508BE3500887CC9BF4</vt:lpwstr>
  </property>
  <property fmtid="{D5CDD505-2E9C-101B-9397-08002B2CF9AE}" pid="3" name="KSOProductBuildVer">
    <vt:lpwstr>1033-11.2.0.11417</vt:lpwstr>
  </property>
</Properties>
</file>