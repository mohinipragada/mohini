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8" r:id="rId5"/>
    <p:sldId id="260"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88" autoAdjust="0"/>
    <p:restoredTop sz="94660"/>
  </p:normalViewPr>
  <p:slideViewPr>
    <p:cSldViewPr snapToGrid="0">
      <p:cViewPr varScale="1">
        <p:scale>
          <a:sx n="68" d="100"/>
          <a:sy n="68" d="100"/>
        </p:scale>
        <p:origin x="58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1/27/2024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1/27/2024</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8685" y="0"/>
            <a:ext cx="8689976" cy="2509213"/>
          </a:xfrm>
        </p:spPr>
        <p:txBody>
          <a:bodyPr>
            <a:normAutofit/>
          </a:bodyPr>
          <a:lstStyle/>
          <a:p>
            <a:r>
              <a:rPr lang="en-US" sz="2400" b="1" dirty="0">
                <a:latin typeface="Times New Roman" panose="02020603050405020304" pitchFamily="18" charset="0"/>
                <a:cs typeface="Times New Roman" panose="02020603050405020304" pitchFamily="18" charset="0"/>
              </a:rPr>
              <a:t>Natural language translation engine for announcements and information dissemination at stations </a:t>
            </a:r>
            <a:endParaRPr lang="en-IN" sz="24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259081" y="4476990"/>
            <a:ext cx="8689976" cy="1371599"/>
          </a:xfrm>
        </p:spPr>
        <p:txBody>
          <a:bodyPr>
            <a:normAutofit/>
          </a:bodyPr>
          <a:lstStyle/>
          <a:p>
            <a:r>
              <a:rPr lang="en-US" sz="2000" b="1" dirty="0">
                <a:solidFill>
                  <a:schemeClr val="tx1"/>
                </a:solidFill>
                <a:latin typeface="Times New Roman" panose="02020603050405020304" pitchFamily="18" charset="0"/>
                <a:cs typeface="Times New Roman" panose="02020603050405020304" pitchFamily="18" charset="0"/>
              </a:rPr>
              <a:t>GUIDE DETAILS:</a:t>
            </a: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911243" y="4476990"/>
            <a:ext cx="2401170"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STUDENT DETAILS:</a:t>
            </a:r>
            <a:endParaRPr lang="en-IN" dirty="0"/>
          </a:p>
        </p:txBody>
      </p:sp>
    </p:spTree>
    <p:extLst>
      <p:ext uri="{BB962C8B-B14F-4D97-AF65-F5344CB8AC3E}">
        <p14:creationId xmlns:p14="http://schemas.microsoft.com/office/powerpoint/2010/main" val="999519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79862" y="-1150105"/>
            <a:ext cx="8689976" cy="2509213"/>
          </a:xfrm>
        </p:spPr>
        <p:txBody>
          <a:bodyPr>
            <a:normAutofit/>
          </a:bodyPr>
          <a:lstStyle/>
          <a:p>
            <a:r>
              <a:rPr lang="en-US" sz="2000" b="1" dirty="0">
                <a:latin typeface="Times New Roman" panose="02020603050405020304" pitchFamily="18" charset="0"/>
                <a:cs typeface="Times New Roman" panose="02020603050405020304" pitchFamily="18" charset="0"/>
              </a:rPr>
              <a:t>ABSTRACT:</a:t>
            </a:r>
            <a:endParaRPr lang="en-IN" sz="2000" b="1" dirty="0">
              <a:latin typeface="Times New Roman" panose="02020603050405020304" pitchFamily="18" charset="0"/>
              <a:cs typeface="Times New Roman" panose="02020603050405020304" pitchFamily="18" charset="0"/>
            </a:endParaRPr>
          </a:p>
        </p:txBody>
      </p:sp>
      <p:sp>
        <p:nvSpPr>
          <p:cNvPr id="6" name="Rectangle 5"/>
          <p:cNvSpPr/>
          <p:nvPr/>
        </p:nvSpPr>
        <p:spPr>
          <a:xfrm>
            <a:off x="794490" y="1708951"/>
            <a:ext cx="10036629" cy="4325800"/>
          </a:xfrm>
          <a:prstGeom prst="rect">
            <a:avLst/>
          </a:prstGeom>
        </p:spPr>
        <p:txBody>
          <a:bodyPr wrap="square">
            <a:spAutoFit/>
          </a:bodyPr>
          <a:lstStyle/>
          <a:p>
            <a:pPr algn="just">
              <a:lnSpc>
                <a:spcPct val="150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project integrates the Google Text-to-Speech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gTTS</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Python library to develop a multilingual information dissemination system for Indian railway stations.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gTTS</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renowned for its natural-sounding speech and extensive language support, including various Indian dialects, plays a key role in converting text to audible announcements. The system is designed to seamlessly translate written information into speech, enhancing accessibility and convenience for passengers. It incorporates real-time text-to-speech conversion, ensuring dynamic and accurate information delivery. Essential for stations, this solution addresses the need for clear communication in noisy environments and is adaptable for mobile platforms, making it a robust tool for modern, efficient railway operations.</a:t>
            </a:r>
          </a:p>
          <a:p>
            <a:pPr algn="just">
              <a:lnSpc>
                <a:spcPct val="150000"/>
              </a:lnSpc>
              <a:spcAft>
                <a:spcPts val="1000"/>
              </a:spcAf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Keywords: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gTTS</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Multilingual, Indian Railways, Text-to-Speech, Information Dissemination, Real-Time Conversion, Speech Synthesis, Python, Accessibility, Noisy Environments, Mobile Integration.</a:t>
            </a:r>
          </a:p>
        </p:txBody>
      </p:sp>
    </p:spTree>
    <p:extLst>
      <p:ext uri="{BB962C8B-B14F-4D97-AF65-F5344CB8AC3E}">
        <p14:creationId xmlns:p14="http://schemas.microsoft.com/office/powerpoint/2010/main" val="1641473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93372" y="-1946939"/>
            <a:ext cx="8689976" cy="2509213"/>
          </a:xfrm>
        </p:spPr>
        <p:txBody>
          <a:bodyPr>
            <a:normAutofit/>
          </a:bodyPr>
          <a:lstStyle/>
          <a:p>
            <a:r>
              <a:rPr lang="en-US" sz="2000" b="1" dirty="0">
                <a:latin typeface="Times New Roman" panose="02020603050405020304" pitchFamily="18" charset="0"/>
                <a:cs typeface="Times New Roman" panose="02020603050405020304" pitchFamily="18" charset="0"/>
              </a:rPr>
              <a:t>INTRODUCTION:</a:t>
            </a:r>
            <a:endParaRPr lang="en-IN" sz="2000" b="1" dirty="0">
              <a:latin typeface="Times New Roman" panose="02020603050405020304" pitchFamily="18" charset="0"/>
              <a:cs typeface="Times New Roman" panose="02020603050405020304" pitchFamily="18" charset="0"/>
            </a:endParaRPr>
          </a:p>
        </p:txBody>
      </p:sp>
      <p:sp>
        <p:nvSpPr>
          <p:cNvPr id="3" name="Rectangle 2"/>
          <p:cNvSpPr/>
          <p:nvPr/>
        </p:nvSpPr>
        <p:spPr>
          <a:xfrm>
            <a:off x="434840" y="839938"/>
            <a:ext cx="10816046" cy="5859553"/>
          </a:xfrm>
          <a:prstGeom prst="rect">
            <a:avLst/>
          </a:prstGeom>
        </p:spPr>
        <p:txBody>
          <a:bodyPr wrap="square">
            <a:spAutoFit/>
          </a:bodyPr>
          <a:lstStyle/>
          <a:p>
            <a:pPr algn="just">
              <a:lnSpc>
                <a:spcPct val="150000"/>
              </a:lnSpc>
            </a:pPr>
            <a:r>
              <a:rPr lang="en-US" dirty="0">
                <a:solidFill>
                  <a:srgbClr val="374151"/>
                </a:solidFill>
                <a:latin typeface="Times New Roman" panose="02020603050405020304" pitchFamily="18" charset="0"/>
                <a:cs typeface="Times New Roman" panose="02020603050405020304" pitchFamily="18" charset="0"/>
              </a:rPr>
              <a:t>In an era marked by technological advancements and an increasing demand for seamless communication, the Indian railway system, one of the largest and busiest in the world, faces the challenge of disseminating vital information effectively to its passengers. The cacophony of bustling railway stations often drowns out important announcements, creating a barrier to accessibility for travelers from diverse linguistic backgrounds. To address this issue, our project introduces a groundbreaking solution: the integration of the Google Text-to-Speech (</a:t>
            </a:r>
            <a:r>
              <a:rPr lang="en-US" dirty="0" err="1">
                <a:solidFill>
                  <a:srgbClr val="374151"/>
                </a:solidFill>
                <a:latin typeface="Times New Roman" panose="02020603050405020304" pitchFamily="18" charset="0"/>
                <a:cs typeface="Times New Roman" panose="02020603050405020304" pitchFamily="18" charset="0"/>
              </a:rPr>
              <a:t>gTTS</a:t>
            </a:r>
            <a:r>
              <a:rPr lang="en-US" dirty="0">
                <a:solidFill>
                  <a:srgbClr val="374151"/>
                </a:solidFill>
                <a:latin typeface="Times New Roman" panose="02020603050405020304" pitchFamily="18" charset="0"/>
                <a:cs typeface="Times New Roman" panose="02020603050405020304" pitchFamily="18" charset="0"/>
              </a:rPr>
              <a:t>) Python library into the Indian railway system, enabling a multilingual information dissemination system. The Indian railway network spans across the length and breadth of the country, serving a vast and culturally diverse population. With over a dozen major languages and numerous dialects spoken across India, providing real-time announcements and information in multiple languages is essential to ensure that passengers can easily access the information they need. The </a:t>
            </a:r>
            <a:r>
              <a:rPr lang="en-US" dirty="0" err="1">
                <a:solidFill>
                  <a:srgbClr val="374151"/>
                </a:solidFill>
                <a:latin typeface="Times New Roman" panose="02020603050405020304" pitchFamily="18" charset="0"/>
                <a:cs typeface="Times New Roman" panose="02020603050405020304" pitchFamily="18" charset="0"/>
              </a:rPr>
              <a:t>gTTS</a:t>
            </a:r>
            <a:r>
              <a:rPr lang="en-US" dirty="0">
                <a:solidFill>
                  <a:srgbClr val="374151"/>
                </a:solidFill>
                <a:latin typeface="Times New Roman" panose="02020603050405020304" pitchFamily="18" charset="0"/>
                <a:cs typeface="Times New Roman" panose="02020603050405020304" pitchFamily="18" charset="0"/>
              </a:rPr>
              <a:t> library, renowned for its natural-sounding speech and comprehensive language support, including various Indian dialects, emerges as the perfect tool to tackle this challenge. Our project's core objective is to seamlessly convert written information into audible announcements using </a:t>
            </a:r>
            <a:r>
              <a:rPr lang="en-US" dirty="0" err="1">
                <a:solidFill>
                  <a:srgbClr val="374151"/>
                </a:solidFill>
                <a:latin typeface="Times New Roman" panose="02020603050405020304" pitchFamily="18" charset="0"/>
                <a:cs typeface="Times New Roman" panose="02020603050405020304" pitchFamily="18" charset="0"/>
              </a:rPr>
              <a:t>gTTS</a:t>
            </a:r>
            <a:r>
              <a:rPr lang="en-US" dirty="0">
                <a:solidFill>
                  <a:srgbClr val="374151"/>
                </a:solidFill>
                <a:latin typeface="Times New Roman" panose="02020603050405020304" pitchFamily="18" charset="0"/>
                <a:cs typeface="Times New Roman" panose="02020603050405020304" pitchFamily="18" charset="0"/>
              </a:rPr>
              <a:t>, thereby enhancing accessibility and convenience for passengers at Indian railway stations. The system is designed to operate in real-time, ensuring dynamic and accurate information delivery to travelers.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4336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616B560-51CF-667A-281D-3445B1A1A1B8}"/>
              </a:ext>
            </a:extLst>
          </p:cNvPr>
          <p:cNvSpPr txBox="1"/>
          <p:nvPr/>
        </p:nvSpPr>
        <p:spPr>
          <a:xfrm>
            <a:off x="858129" y="912702"/>
            <a:ext cx="9777046" cy="4617098"/>
          </a:xfrm>
          <a:prstGeom prst="rect">
            <a:avLst/>
          </a:prstGeom>
          <a:noFill/>
        </p:spPr>
        <p:txBody>
          <a:bodyPr wrap="square">
            <a:spAutoFit/>
          </a:bodyPr>
          <a:lstStyle/>
          <a:p>
            <a:pPr algn="just">
              <a:lnSpc>
                <a:spcPct val="150000"/>
              </a:lnSpc>
            </a:pPr>
            <a:r>
              <a:rPr lang="en-US" dirty="0">
                <a:solidFill>
                  <a:srgbClr val="374151"/>
                </a:solidFill>
                <a:latin typeface="Times New Roman" panose="02020603050405020304" pitchFamily="18" charset="0"/>
                <a:cs typeface="Times New Roman" panose="02020603050405020304" pitchFamily="18" charset="0"/>
              </a:rPr>
              <a:t>This real-time text-to-speech conversion not only addresses the need for clear communication in noisy environments but also contributes to making railway operations more efficient. One of the key advantages of our solution is its adaptability for mobile platforms. In an increasingly mobile-driven world, providing passengers with the ability to access announcements and information on their smartphones is not only convenient but also aligns with modern trends in communication technology. This makes our project a robust and forward-thinking tool for enhancing the overall railway experience. In the following sections, we will delve into the technical details of our implementation, highlighting the benefits of </a:t>
            </a:r>
            <a:r>
              <a:rPr lang="en-US" dirty="0" err="1">
                <a:solidFill>
                  <a:srgbClr val="374151"/>
                </a:solidFill>
                <a:latin typeface="Times New Roman" panose="02020603050405020304" pitchFamily="18" charset="0"/>
                <a:cs typeface="Times New Roman" panose="02020603050405020304" pitchFamily="18" charset="0"/>
              </a:rPr>
              <a:t>gTTS</a:t>
            </a:r>
            <a:r>
              <a:rPr lang="en-US" dirty="0">
                <a:solidFill>
                  <a:srgbClr val="374151"/>
                </a:solidFill>
                <a:latin typeface="Times New Roman" panose="02020603050405020304" pitchFamily="18" charset="0"/>
                <a:cs typeface="Times New Roman" panose="02020603050405020304" pitchFamily="18" charset="0"/>
              </a:rPr>
              <a:t>, the integration process, and the user-friendly features that have been incorporated. By the end of this project, we aim to revolutionize information dissemination at Indian railway stations, making it more inclusive, efficient, and accessible for all passengers, regardless of their linguistic background or the noise level in the bustling station environment.</a:t>
            </a:r>
            <a:endParaRPr lang="en-IN" dirty="0"/>
          </a:p>
        </p:txBody>
      </p:sp>
    </p:spTree>
    <p:extLst>
      <p:ext uri="{BB962C8B-B14F-4D97-AF65-F5344CB8AC3E}">
        <p14:creationId xmlns:p14="http://schemas.microsoft.com/office/powerpoint/2010/main" val="3522573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4628" y="-1058664"/>
            <a:ext cx="8689976" cy="2509213"/>
          </a:xfrm>
        </p:spPr>
        <p:txBody>
          <a:bodyPr>
            <a:normAutofit/>
          </a:bodyPr>
          <a:lstStyle/>
          <a:p>
            <a:r>
              <a:rPr lang="en-US" sz="2000" b="1" dirty="0">
                <a:latin typeface="Times New Roman" panose="02020603050405020304" pitchFamily="18" charset="0"/>
                <a:cs typeface="Times New Roman" panose="02020603050405020304" pitchFamily="18" charset="0"/>
              </a:rPr>
              <a:t>HOW TECHNOLOGY WORKS ON THIS PROJECT:</a:t>
            </a:r>
            <a:endParaRPr lang="en-IN" sz="2000" b="1" dirty="0">
              <a:latin typeface="Times New Roman" panose="02020603050405020304" pitchFamily="18" charset="0"/>
              <a:cs typeface="Times New Roman" panose="02020603050405020304" pitchFamily="18" charset="0"/>
            </a:endParaRPr>
          </a:p>
        </p:txBody>
      </p:sp>
      <p:sp>
        <p:nvSpPr>
          <p:cNvPr id="3" name="Rectangle 2"/>
          <p:cNvSpPr/>
          <p:nvPr/>
        </p:nvSpPr>
        <p:spPr>
          <a:xfrm>
            <a:off x="953589" y="2274838"/>
            <a:ext cx="10110651" cy="295106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technology behind this project leverages the Google Text-to-Speech (</a:t>
            </a:r>
            <a:r>
              <a:rPr lang="en-US" dirty="0" err="1">
                <a:latin typeface="Times New Roman" panose="02020603050405020304" pitchFamily="18" charset="0"/>
                <a:cs typeface="Times New Roman" panose="02020603050405020304" pitchFamily="18" charset="0"/>
              </a:rPr>
              <a:t>gTTS</a:t>
            </a:r>
            <a:r>
              <a:rPr lang="en-US" dirty="0">
                <a:latin typeface="Times New Roman" panose="02020603050405020304" pitchFamily="18" charset="0"/>
                <a:cs typeface="Times New Roman" panose="02020603050405020304" pitchFamily="18" charset="0"/>
              </a:rPr>
              <a:t>) Python library to create a natural language translation engine. It functions by taking written information, including various Indian dialects, and utilizes </a:t>
            </a:r>
            <a:r>
              <a:rPr lang="en-US" dirty="0" err="1">
                <a:latin typeface="Times New Roman" panose="02020603050405020304" pitchFamily="18" charset="0"/>
                <a:cs typeface="Times New Roman" panose="02020603050405020304" pitchFamily="18" charset="0"/>
              </a:rPr>
              <a:t>gTTS</a:t>
            </a:r>
            <a:r>
              <a:rPr lang="en-US" dirty="0">
                <a:latin typeface="Times New Roman" panose="02020603050405020304" pitchFamily="18" charset="0"/>
                <a:cs typeface="Times New Roman" panose="02020603050405020304" pitchFamily="18" charset="0"/>
              </a:rPr>
              <a:t> to convert it into high-quality audible announcements. The system operates in real-time, ensuring accurate and dynamic information delivery. This technology addresses the challenge of communicating effectively in noisy railway station environments. Additionally, it offers mobile integration, making it a versatile and essential tool for modern, multilingual information dissemination in Indian railway stations.</a:t>
            </a:r>
          </a:p>
        </p:txBody>
      </p:sp>
    </p:spTree>
    <p:extLst>
      <p:ext uri="{BB962C8B-B14F-4D97-AF65-F5344CB8AC3E}">
        <p14:creationId xmlns:p14="http://schemas.microsoft.com/office/powerpoint/2010/main" val="3461785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91783" y="-851174"/>
            <a:ext cx="8689976" cy="2509213"/>
          </a:xfrm>
        </p:spPr>
        <p:txBody>
          <a:bodyPr>
            <a:normAutofit/>
          </a:bodyPr>
          <a:lstStyle/>
          <a:p>
            <a:r>
              <a:rPr lang="en-US" sz="2000" b="1" dirty="0">
                <a:latin typeface="Times New Roman" panose="02020603050405020304" pitchFamily="18" charset="0"/>
                <a:cs typeface="Times New Roman" panose="02020603050405020304" pitchFamily="18" charset="0"/>
              </a:rPr>
              <a:t>EXISTING SYSTEM:</a:t>
            </a:r>
            <a:endParaRPr lang="en-IN" sz="2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089910" y="2277017"/>
            <a:ext cx="9575074" cy="3371692"/>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existing system for railway information dissemination, relying on older libraries, offers basic multilingual support primarily for major Indian languages. It utilizes traditional text-to-speech (TTS) engines and basic natural language processing (NLP) techniques. The system is capable of scripted station announcements and responses over IVRS, but lacks real-time adaptability and the nuanced understanding of modern NLP tools. Its speech synthesis, while functional, does not match the natural quality of newer technologies like </a:t>
            </a:r>
            <a:r>
              <a:rPr lang="en-US" dirty="0" err="1">
                <a:latin typeface="Times New Roman" panose="02020603050405020304" pitchFamily="18" charset="0"/>
                <a:cs typeface="Times New Roman" panose="02020603050405020304" pitchFamily="18" charset="0"/>
              </a:rPr>
              <a:t>gTTS</a:t>
            </a:r>
            <a:r>
              <a:rPr lang="en-US" dirty="0">
                <a:latin typeface="Times New Roman" panose="02020603050405020304" pitchFamily="18" charset="0"/>
                <a:cs typeface="Times New Roman" panose="02020603050405020304" pitchFamily="18" charset="0"/>
              </a:rPr>
              <a:t>. Limited by older frameworks, the system faces challenges in noise reduction, dynamic content generation, and integration with contemporary mobile and web platforms, highlighting the need for an upgrade to more advanced solutions.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8412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49234" y="-1842436"/>
            <a:ext cx="8689976" cy="2509213"/>
          </a:xfrm>
        </p:spPr>
        <p:txBody>
          <a:bodyPr>
            <a:normAutofit/>
          </a:bodyPr>
          <a:lstStyle/>
          <a:p>
            <a:r>
              <a:rPr lang="en-US" sz="2000" b="1" dirty="0">
                <a:latin typeface="Times New Roman" panose="02020603050405020304" pitchFamily="18" charset="0"/>
                <a:cs typeface="Times New Roman" panose="02020603050405020304" pitchFamily="18" charset="0"/>
              </a:rPr>
              <a:t>LIMITATIONS OF EXISTING:</a:t>
            </a:r>
            <a:endParaRPr lang="en-IN" sz="2000" b="1" dirty="0">
              <a:latin typeface="Times New Roman" panose="02020603050405020304" pitchFamily="18" charset="0"/>
              <a:cs typeface="Times New Roman" panose="02020603050405020304" pitchFamily="18" charset="0"/>
            </a:endParaRPr>
          </a:p>
        </p:txBody>
      </p:sp>
      <p:sp>
        <p:nvSpPr>
          <p:cNvPr id="3" name="Rectangle 2"/>
          <p:cNvSpPr/>
          <p:nvPr/>
        </p:nvSpPr>
        <p:spPr>
          <a:xfrm>
            <a:off x="717492" y="1667844"/>
            <a:ext cx="10255307" cy="4197559"/>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1. Limited language support: </a:t>
            </a:r>
            <a:r>
              <a:rPr lang="en-US" dirty="0">
                <a:latin typeface="Times New Roman" panose="02020603050405020304" pitchFamily="18" charset="0"/>
                <a:cs typeface="Times New Roman" panose="02020603050405020304" pitchFamily="18" charset="0"/>
              </a:rPr>
              <a:t>The existing system offers basic multilingual support primarily for major Indian languages, leaving out numerous regional dialects.</a:t>
            </a:r>
          </a:p>
          <a:p>
            <a:pPr algn="just">
              <a:lnSpc>
                <a:spcPct val="150000"/>
              </a:lnSpc>
            </a:pPr>
            <a:r>
              <a:rPr lang="en-US" b="1" dirty="0">
                <a:latin typeface="Times New Roman" panose="02020603050405020304" pitchFamily="18" charset="0"/>
                <a:cs typeface="Times New Roman" panose="02020603050405020304" pitchFamily="18" charset="0"/>
              </a:rPr>
              <a:t>2. Lack of real-time adaptability: </a:t>
            </a:r>
            <a:r>
              <a:rPr lang="en-US" dirty="0">
                <a:latin typeface="Times New Roman" panose="02020603050405020304" pitchFamily="18" charset="0"/>
                <a:cs typeface="Times New Roman" panose="02020603050405020304" pitchFamily="18" charset="0"/>
              </a:rPr>
              <a:t>The system lacks the ability to dynamically adapt to changing information, making it less responsive to real-time updates and announcements.</a:t>
            </a:r>
          </a:p>
          <a:p>
            <a:pPr algn="just">
              <a:lnSpc>
                <a:spcPct val="150000"/>
              </a:lnSpc>
            </a:pPr>
            <a:r>
              <a:rPr lang="en-US" b="1" dirty="0">
                <a:latin typeface="Times New Roman" panose="02020603050405020304" pitchFamily="18" charset="0"/>
                <a:cs typeface="Times New Roman" panose="02020603050405020304" pitchFamily="18" charset="0"/>
              </a:rPr>
              <a:t>3. Outdated speech synthesis: </a:t>
            </a:r>
            <a:r>
              <a:rPr lang="en-US" dirty="0">
                <a:latin typeface="Times New Roman" panose="02020603050405020304" pitchFamily="18" charset="0"/>
                <a:cs typeface="Times New Roman" panose="02020603050405020304" pitchFamily="18" charset="0"/>
              </a:rPr>
              <a:t>The speech synthesis in the existing system falls short of the natural quality and clarity provided by newer technologies like </a:t>
            </a:r>
            <a:r>
              <a:rPr lang="en-US" dirty="0" err="1">
                <a:latin typeface="Times New Roman" panose="02020603050405020304" pitchFamily="18" charset="0"/>
                <a:cs typeface="Times New Roman" panose="02020603050405020304" pitchFamily="18" charset="0"/>
              </a:rPr>
              <a:t>gTTS</a:t>
            </a:r>
            <a:r>
              <a:rPr lang="en-US" dirty="0">
                <a:latin typeface="Times New Roman" panose="02020603050405020304" pitchFamily="18" charset="0"/>
                <a:cs typeface="Times New Roman" panose="02020603050405020304" pitchFamily="18" charset="0"/>
              </a:rPr>
              <a:t>.</a:t>
            </a:r>
          </a:p>
          <a:p>
            <a:pPr algn="just">
              <a:lnSpc>
                <a:spcPct val="150000"/>
              </a:lnSpc>
            </a:pPr>
            <a:r>
              <a:rPr lang="en-US" b="1" dirty="0">
                <a:latin typeface="Times New Roman" panose="02020603050405020304" pitchFamily="18" charset="0"/>
                <a:cs typeface="Times New Roman" panose="02020603050405020304" pitchFamily="18" charset="0"/>
              </a:rPr>
              <a:t>4. Noise challenges: </a:t>
            </a:r>
            <a:r>
              <a:rPr lang="en-US" dirty="0">
                <a:latin typeface="Times New Roman" panose="02020603050405020304" pitchFamily="18" charset="0"/>
                <a:cs typeface="Times New Roman" panose="02020603050405020304" pitchFamily="18" charset="0"/>
              </a:rPr>
              <a:t>In noisy environments, the existing system struggles to ensure clear communication, hindering effective information dissemination.</a:t>
            </a:r>
          </a:p>
          <a:p>
            <a:pPr algn="just">
              <a:lnSpc>
                <a:spcPct val="150000"/>
              </a:lnSpc>
            </a:pPr>
            <a:r>
              <a:rPr lang="en-US" b="1" dirty="0">
                <a:latin typeface="Times New Roman" panose="02020603050405020304" pitchFamily="18" charset="0"/>
                <a:cs typeface="Times New Roman" panose="02020603050405020304" pitchFamily="18" charset="0"/>
              </a:rPr>
              <a:t>5. Poor mobile and web integration: </a:t>
            </a:r>
            <a:r>
              <a:rPr lang="en-US" dirty="0">
                <a:latin typeface="Times New Roman" panose="02020603050405020304" pitchFamily="18" charset="0"/>
                <a:cs typeface="Times New Roman" panose="02020603050405020304" pitchFamily="18" charset="0"/>
              </a:rPr>
              <a:t>The system faces difficulties integrating with contemporary mobile and web platforms, limiting its accessibility to modern passengers.</a:t>
            </a:r>
            <a:endParaRPr lang="en-US"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587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32114" y="-858878"/>
            <a:ext cx="8689976" cy="2509213"/>
          </a:xfrm>
        </p:spPr>
        <p:txBody>
          <a:bodyPr>
            <a:normAutofit/>
          </a:bodyPr>
          <a:lstStyle/>
          <a:p>
            <a:r>
              <a:rPr lang="en-US" sz="2000" b="1" dirty="0">
                <a:latin typeface="Times New Roman" panose="02020603050405020304" pitchFamily="18" charset="0"/>
                <a:cs typeface="Times New Roman" panose="02020603050405020304" pitchFamily="18" charset="0"/>
              </a:rPr>
              <a:t>PROPOSED SYSTEM:</a:t>
            </a:r>
            <a:endParaRPr lang="en-IN" sz="2000" b="1" dirty="0">
              <a:latin typeface="Times New Roman" panose="02020603050405020304" pitchFamily="18" charset="0"/>
              <a:cs typeface="Times New Roman" panose="02020603050405020304" pitchFamily="18" charset="0"/>
            </a:endParaRPr>
          </a:p>
        </p:txBody>
      </p:sp>
      <p:sp>
        <p:nvSpPr>
          <p:cNvPr id="3" name="Rectangle 2"/>
          <p:cNvSpPr/>
          <p:nvPr/>
        </p:nvSpPr>
        <p:spPr>
          <a:xfrm>
            <a:off x="949234" y="1650335"/>
            <a:ext cx="10032274" cy="3782061"/>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proposed system leverages advanced technologies like the Google Text-to-Speech (</a:t>
            </a:r>
            <a:r>
              <a:rPr lang="en-US" dirty="0" err="1">
                <a:latin typeface="Times New Roman" panose="02020603050405020304" pitchFamily="18" charset="0"/>
                <a:cs typeface="Times New Roman" panose="02020603050405020304" pitchFamily="18" charset="0"/>
              </a:rPr>
              <a:t>gTTS</a:t>
            </a:r>
            <a:r>
              <a:rPr lang="en-US" dirty="0">
                <a:latin typeface="Times New Roman" panose="02020603050405020304" pitchFamily="18" charset="0"/>
                <a:cs typeface="Times New Roman" panose="02020603050405020304" pitchFamily="18" charset="0"/>
              </a:rPr>
              <a:t>) Python library to revolutionize information dissemination in Indian railway stations. This solution offers extensive multilingual support, including regional Indian languages and potential for foreign language expansion. It integrates real-time text-to-speech conversion with sophisticated natural language processing (NLP) capabilities, facilitating dynamic, accurate, and natural-sounding announcements. Designed to operate effectively in noisy environments, the system includes noise reduction techniques and is optimized for mobile and web platforms, ensuring accessible and efficient communication. This modern approach significantly enhances passenger experience through timely, clear, and personalized information delivery in a variety of languages.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8112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49234" y="-1842436"/>
            <a:ext cx="8689976" cy="2509213"/>
          </a:xfrm>
        </p:spPr>
        <p:txBody>
          <a:bodyPr>
            <a:normAutofit/>
          </a:bodyPr>
          <a:lstStyle/>
          <a:p>
            <a:r>
              <a:rPr lang="en-US" sz="2000" b="1" dirty="0">
                <a:latin typeface="Times New Roman" panose="02020603050405020304" pitchFamily="18" charset="0"/>
                <a:cs typeface="Times New Roman" panose="02020603050405020304" pitchFamily="18" charset="0"/>
              </a:rPr>
              <a:t>ADVANTAGES:</a:t>
            </a:r>
            <a:endParaRPr lang="en-IN" sz="2000" b="1" dirty="0">
              <a:latin typeface="Times New Roman" panose="02020603050405020304" pitchFamily="18" charset="0"/>
              <a:cs typeface="Times New Roman" panose="02020603050405020304" pitchFamily="18" charset="0"/>
            </a:endParaRPr>
          </a:p>
        </p:txBody>
      </p:sp>
      <p:sp>
        <p:nvSpPr>
          <p:cNvPr id="3" name="Rectangle 2"/>
          <p:cNvSpPr/>
          <p:nvPr/>
        </p:nvSpPr>
        <p:spPr>
          <a:xfrm>
            <a:off x="736544" y="1288017"/>
            <a:ext cx="11178792" cy="5028556"/>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1. Extensive Multilingual Support: </a:t>
            </a:r>
            <a:r>
              <a:rPr lang="en-US" dirty="0">
                <a:latin typeface="Times New Roman" panose="02020603050405020304" pitchFamily="18" charset="0"/>
                <a:cs typeface="Times New Roman" panose="02020603050405020304" pitchFamily="18" charset="0"/>
              </a:rPr>
              <a:t>The system offers comprehensive language coverage, including regional Indian languages and the potential for future expansion into foreign languages, ensuring inclusivity for diverse passengers.</a:t>
            </a:r>
          </a:p>
          <a:p>
            <a:pPr algn="just">
              <a:lnSpc>
                <a:spcPct val="150000"/>
              </a:lnSpc>
            </a:pPr>
            <a:r>
              <a:rPr lang="en-US" b="1" dirty="0">
                <a:latin typeface="Times New Roman" panose="02020603050405020304" pitchFamily="18" charset="0"/>
                <a:cs typeface="Times New Roman" panose="02020603050405020304" pitchFamily="18" charset="0"/>
              </a:rPr>
              <a:t>2. Real-Time and Natural-Sounding Announcements: </a:t>
            </a:r>
            <a:r>
              <a:rPr lang="en-US" dirty="0">
                <a:latin typeface="Times New Roman" panose="02020603050405020304" pitchFamily="18" charset="0"/>
                <a:cs typeface="Times New Roman" panose="02020603050405020304" pitchFamily="18" charset="0"/>
              </a:rPr>
              <a:t>It integrates real-time text-to-speech conversion with sophisticated NLP capabilities, delivering dynamic, accurate, and natural-sounding announcements, enhancing passenger understanding.</a:t>
            </a:r>
          </a:p>
          <a:p>
            <a:pPr algn="just">
              <a:lnSpc>
                <a:spcPct val="150000"/>
              </a:lnSpc>
            </a:pPr>
            <a:r>
              <a:rPr lang="en-US" b="1" dirty="0">
                <a:latin typeface="Times New Roman" panose="02020603050405020304" pitchFamily="18" charset="0"/>
                <a:cs typeface="Times New Roman" panose="02020603050405020304" pitchFamily="18" charset="0"/>
              </a:rPr>
              <a:t>3. Noise-Resilient Operation: </a:t>
            </a:r>
            <a:r>
              <a:rPr lang="en-US" dirty="0">
                <a:latin typeface="Times New Roman" panose="02020603050405020304" pitchFamily="18" charset="0"/>
                <a:cs typeface="Times New Roman" panose="02020603050405020304" pitchFamily="18" charset="0"/>
              </a:rPr>
              <a:t>Designed to function effectively in noisy station environments, the system incorporates noise reduction techniques, guaranteeing clear and reliable communication even in challenging conditions.</a:t>
            </a:r>
          </a:p>
          <a:p>
            <a:pPr algn="just">
              <a:lnSpc>
                <a:spcPct val="150000"/>
              </a:lnSpc>
            </a:pPr>
            <a:r>
              <a:rPr lang="en-US" b="1" dirty="0">
                <a:latin typeface="Times New Roman" panose="02020603050405020304" pitchFamily="18" charset="0"/>
                <a:cs typeface="Times New Roman" panose="02020603050405020304" pitchFamily="18" charset="0"/>
              </a:rPr>
              <a:t>4. Mobile and Web Optimization: </a:t>
            </a:r>
            <a:r>
              <a:rPr lang="en-US" dirty="0">
                <a:latin typeface="Times New Roman" panose="02020603050405020304" pitchFamily="18" charset="0"/>
                <a:cs typeface="Times New Roman" panose="02020603050405020304" pitchFamily="18" charset="0"/>
              </a:rPr>
              <a:t>The system is optimized for both mobile and web platforms, ensuring accessibility and convenience for passengers using various devices, making information dissemination efficient and flexible.</a:t>
            </a:r>
          </a:p>
          <a:p>
            <a:pPr algn="just">
              <a:lnSpc>
                <a:spcPct val="150000"/>
              </a:lnSpc>
            </a:pPr>
            <a:r>
              <a:rPr lang="en-US" b="1" dirty="0">
                <a:latin typeface="Times New Roman" panose="02020603050405020304" pitchFamily="18" charset="0"/>
                <a:cs typeface="Times New Roman" panose="02020603050405020304" pitchFamily="18" charset="0"/>
              </a:rPr>
              <a:t>5. Enhanced Passenger Experience: </a:t>
            </a:r>
            <a:r>
              <a:rPr lang="en-US" dirty="0">
                <a:latin typeface="Times New Roman" panose="02020603050405020304" pitchFamily="18" charset="0"/>
                <a:cs typeface="Times New Roman" panose="02020603050405020304" pitchFamily="18" charset="0"/>
              </a:rPr>
              <a:t>By providing timely, clear, and personalized information in multiple languages, the system significantly improves the overall passenger experience, making railway operations more modern and passenger-centric.</a:t>
            </a:r>
            <a:endParaRPr lang="en-US"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2128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71303" y="-618429"/>
            <a:ext cx="8689976" cy="2509213"/>
          </a:xfrm>
        </p:spPr>
        <p:txBody>
          <a:bodyPr>
            <a:normAutofit/>
          </a:bodyPr>
          <a:lstStyle/>
          <a:p>
            <a:r>
              <a:rPr lang="en-US" sz="2000" b="1" dirty="0">
                <a:latin typeface="Times New Roman" panose="02020603050405020304" pitchFamily="18" charset="0"/>
                <a:cs typeface="Times New Roman" panose="02020603050405020304" pitchFamily="18" charset="0"/>
              </a:rPr>
              <a:t>DATASET DESCRIPTION:</a:t>
            </a:r>
            <a:br>
              <a:rPr lang="en-US" sz="2000" b="1" dirty="0">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anose="02020603050405020304" pitchFamily="18" charset="0"/>
            </a:endParaRPr>
          </a:p>
        </p:txBody>
      </p:sp>
      <p:sp>
        <p:nvSpPr>
          <p:cNvPr id="3" name="Rectangle 2"/>
          <p:cNvSpPr/>
          <p:nvPr/>
        </p:nvSpPr>
        <p:spPr>
          <a:xfrm>
            <a:off x="748686" y="2032418"/>
            <a:ext cx="3288080" cy="369332"/>
          </a:xfrm>
          <a:prstGeom prst="rect">
            <a:avLst/>
          </a:prstGeom>
        </p:spPr>
        <p:txBody>
          <a:bodyPr wrap="none">
            <a:spAutoFit/>
          </a:bodyPr>
          <a:lstStyle/>
          <a:p>
            <a:r>
              <a:rPr lang="en-US" b="1" dirty="0">
                <a:solidFill>
                  <a:srgbClr val="000000"/>
                </a:solidFill>
                <a:latin typeface="Times New Roman" panose="02020603050405020304" pitchFamily="18" charset="0"/>
                <a:ea typeface="Times New Roman" panose="02020603050405020304" pitchFamily="18" charset="0"/>
              </a:rPr>
              <a:t>Dataset Name:</a:t>
            </a:r>
            <a:r>
              <a:rPr lang="en-US" dirty="0">
                <a:solidFill>
                  <a:srgbClr val="000000"/>
                </a:solidFill>
                <a:latin typeface="Times New Roman" panose="02020603050405020304" pitchFamily="18" charset="0"/>
                <a:ea typeface="Times New Roman" panose="02020603050405020304" pitchFamily="18" charset="0"/>
              </a:rPr>
              <a:t> User text Dataset</a:t>
            </a:r>
            <a:endParaRPr lang="en-IN" dirty="0"/>
          </a:p>
        </p:txBody>
      </p:sp>
    </p:spTree>
    <p:extLst>
      <p:ext uri="{BB962C8B-B14F-4D97-AF65-F5344CB8AC3E}">
        <p14:creationId xmlns:p14="http://schemas.microsoft.com/office/powerpoint/2010/main" val="843086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49234" y="-1842436"/>
            <a:ext cx="8689976" cy="2509213"/>
          </a:xfrm>
        </p:spPr>
        <p:txBody>
          <a:bodyPr>
            <a:normAutofit/>
          </a:bodyPr>
          <a:lstStyle/>
          <a:p>
            <a:r>
              <a:rPr lang="en-US" sz="2000" b="1" dirty="0">
                <a:latin typeface="Times New Roman" panose="02020603050405020304" pitchFamily="18" charset="0"/>
                <a:cs typeface="Times New Roman" panose="02020603050405020304" pitchFamily="18" charset="0"/>
              </a:rPr>
              <a:t>HARDWARE &amp; SOFTWARE REQUIREMENTS:</a:t>
            </a:r>
            <a:endParaRPr lang="en-IN" sz="2000" b="1" dirty="0">
              <a:latin typeface="Times New Roman" panose="02020603050405020304" pitchFamily="18" charset="0"/>
              <a:cs typeface="Times New Roman" panose="02020603050405020304" pitchFamily="18" charset="0"/>
            </a:endParaRPr>
          </a:p>
        </p:txBody>
      </p:sp>
      <p:sp>
        <p:nvSpPr>
          <p:cNvPr id="3" name="Rectangle 2"/>
          <p:cNvSpPr/>
          <p:nvPr/>
        </p:nvSpPr>
        <p:spPr>
          <a:xfrm>
            <a:off x="0" y="1421651"/>
            <a:ext cx="6096000" cy="4662815"/>
          </a:xfrm>
          <a:prstGeom prst="rect">
            <a:avLst/>
          </a:prstGeom>
        </p:spPr>
        <p:txBody>
          <a:bodyPr>
            <a:spAutoFit/>
          </a:bodyPr>
          <a:lstStyle/>
          <a:p>
            <a:pPr marL="457200" algn="just">
              <a:lnSpc>
                <a:spcPct val="150000"/>
              </a:lnSpc>
              <a:spcAft>
                <a:spcPts val="0"/>
              </a:spcAft>
            </a:pPr>
            <a:r>
              <a:rPr lang="en-US" b="1" dirty="0">
                <a:latin typeface="Times New Roman" panose="02020603050405020304" pitchFamily="18" charset="0"/>
                <a:cs typeface="Times New Roman" panose="02020603050405020304" pitchFamily="18" charset="0"/>
              </a:rPr>
              <a:t>SOFTWARE REQUIREMENTS </a:t>
            </a:r>
            <a:r>
              <a:rPr lang="en-US" dirty="0">
                <a:solidFill>
                  <a:srgbClr val="000000"/>
                </a:solidFill>
                <a:latin typeface="Times New Roman" panose="02020603050405020304" pitchFamily="18" charset="0"/>
                <a:ea typeface="Times New Roman" panose="02020603050405020304" pitchFamily="18" charset="0"/>
              </a:rPr>
              <a:t> </a:t>
            </a:r>
          </a:p>
          <a:p>
            <a:pPr marL="742950" indent="-285750" algn="just">
              <a:lnSpc>
                <a:spcPct val="150000"/>
              </a:lnSpc>
              <a:spcAft>
                <a:spcPts val="0"/>
              </a:spcAft>
              <a:buFont typeface="Arial" panose="020B0604020202020204" pitchFamily="34" charset="0"/>
              <a:buChar char="•"/>
            </a:pPr>
            <a:r>
              <a:rPr lang="en-US" dirty="0">
                <a:solidFill>
                  <a:srgbClr val="333333"/>
                </a:solidFill>
                <a:latin typeface="Times New Roman" panose="02020603050405020304" pitchFamily="18" charset="0"/>
                <a:ea typeface="Times New Roman" panose="02020603050405020304" pitchFamily="18" charset="0"/>
              </a:rPr>
              <a:t>Operating System		:  Windows 7/8/10</a:t>
            </a:r>
            <a:endParaRPr lang="en-IN" sz="2000" dirty="0">
              <a:solidFill>
                <a:srgbClr val="333333"/>
              </a:solidFill>
              <a:latin typeface="Times New Roman" panose="02020603050405020304" pitchFamily="18" charset="0"/>
              <a:ea typeface="Times New Roman" panose="02020603050405020304" pitchFamily="18" charset="0"/>
            </a:endParaRPr>
          </a:p>
          <a:p>
            <a:pPr marL="742950" indent="-285750" algn="just">
              <a:lnSpc>
                <a:spcPct val="150000"/>
              </a:lnSpc>
              <a:spcAft>
                <a:spcPts val="0"/>
              </a:spcAft>
              <a:buFont typeface="Arial" panose="020B0604020202020204" pitchFamily="34" charset="0"/>
              <a:buChar char="•"/>
            </a:pPr>
            <a:r>
              <a:rPr lang="en-US" dirty="0">
                <a:solidFill>
                  <a:srgbClr val="333333"/>
                </a:solidFill>
                <a:latin typeface="Times New Roman" panose="02020603050405020304" pitchFamily="18" charset="0"/>
                <a:ea typeface="Times New Roman" panose="02020603050405020304" pitchFamily="18" charset="0"/>
              </a:rPr>
              <a:t>Server side Script		:  HTML, CSS, Bootstrap &amp; JS</a:t>
            </a:r>
            <a:endParaRPr lang="en-IN" sz="2000" dirty="0">
              <a:solidFill>
                <a:srgbClr val="333333"/>
              </a:solidFill>
              <a:latin typeface="Times New Roman" panose="02020603050405020304" pitchFamily="18" charset="0"/>
              <a:ea typeface="Times New Roman" panose="02020603050405020304" pitchFamily="18" charset="0"/>
            </a:endParaRPr>
          </a:p>
          <a:p>
            <a:pPr marL="742950" indent="-285750" algn="just">
              <a:lnSpc>
                <a:spcPct val="150000"/>
              </a:lnSpc>
              <a:spcAft>
                <a:spcPts val="0"/>
              </a:spcAft>
              <a:buFont typeface="Arial" panose="020B0604020202020204" pitchFamily="34" charset="0"/>
              <a:buChar char="•"/>
            </a:pPr>
            <a:r>
              <a:rPr lang="en-US" dirty="0">
                <a:solidFill>
                  <a:srgbClr val="333333"/>
                </a:solidFill>
                <a:latin typeface="Times New Roman" panose="02020603050405020304" pitchFamily="18" charset="0"/>
                <a:ea typeface="Times New Roman" panose="02020603050405020304" pitchFamily="18" charset="0"/>
              </a:rPr>
              <a:t>Programming Language	:  Python</a:t>
            </a:r>
            <a:endParaRPr lang="en-IN" sz="2000" dirty="0">
              <a:solidFill>
                <a:srgbClr val="333333"/>
              </a:solidFill>
              <a:latin typeface="Times New Roman" panose="02020603050405020304" pitchFamily="18" charset="0"/>
              <a:ea typeface="Times New Roman" panose="02020603050405020304" pitchFamily="18" charset="0"/>
            </a:endParaRPr>
          </a:p>
          <a:p>
            <a:pPr marL="742950" indent="-285750" algn="just">
              <a:lnSpc>
                <a:spcPct val="150000"/>
              </a:lnSpc>
              <a:spcAft>
                <a:spcPts val="0"/>
              </a:spcAft>
              <a:buFont typeface="Arial" panose="020B0604020202020204" pitchFamily="34" charset="0"/>
              <a:buChar char="•"/>
            </a:pPr>
            <a:r>
              <a:rPr lang="en-US" dirty="0">
                <a:solidFill>
                  <a:srgbClr val="333333"/>
                </a:solidFill>
                <a:latin typeface="Times New Roman" panose="02020603050405020304" pitchFamily="18" charset="0"/>
                <a:ea typeface="Times New Roman" panose="02020603050405020304" pitchFamily="18" charset="0"/>
              </a:rPr>
              <a:t>Libraries			:  Django, Pandas, </a:t>
            </a:r>
            <a:r>
              <a:rPr lang="en-US" dirty="0" err="1">
                <a:solidFill>
                  <a:srgbClr val="333333"/>
                </a:solidFill>
                <a:latin typeface="Times New Roman" panose="02020603050405020304" pitchFamily="18" charset="0"/>
                <a:ea typeface="Times New Roman" panose="02020603050405020304" pitchFamily="18" charset="0"/>
              </a:rPr>
              <a:t>Mysql.connector</a:t>
            </a:r>
            <a:r>
              <a:rPr lang="en-US" dirty="0">
                <a:solidFill>
                  <a:srgbClr val="333333"/>
                </a:solidFill>
                <a:latin typeface="Times New Roman" panose="02020603050405020304" pitchFamily="18" charset="0"/>
                <a:ea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rPr>
              <a:t>Os</a:t>
            </a:r>
            <a:r>
              <a:rPr lang="en-US" dirty="0">
                <a:solidFill>
                  <a:srgbClr val="333333"/>
                </a:solidFill>
                <a:latin typeface="Times New Roman" panose="02020603050405020304" pitchFamily="18" charset="0"/>
                <a:ea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rPr>
              <a:t>Smtplib</a:t>
            </a:r>
            <a:r>
              <a:rPr lang="en-US" dirty="0">
                <a:solidFill>
                  <a:srgbClr val="333333"/>
                </a:solidFill>
                <a:latin typeface="Times New Roman" panose="02020603050405020304" pitchFamily="18" charset="0"/>
                <a:ea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rPr>
              <a:t>Numpy</a:t>
            </a:r>
            <a:endParaRPr lang="en-IN" sz="2000" dirty="0">
              <a:solidFill>
                <a:srgbClr val="333333"/>
              </a:solidFill>
              <a:latin typeface="Times New Roman" panose="02020603050405020304" pitchFamily="18" charset="0"/>
              <a:ea typeface="Times New Roman" panose="02020603050405020304" pitchFamily="18" charset="0"/>
            </a:endParaRPr>
          </a:p>
          <a:p>
            <a:pPr marL="742950" indent="-285750" algn="just">
              <a:lnSpc>
                <a:spcPct val="150000"/>
              </a:lnSpc>
              <a:spcAft>
                <a:spcPts val="0"/>
              </a:spcAft>
              <a:buFont typeface="Arial" panose="020B0604020202020204" pitchFamily="34" charset="0"/>
              <a:buChar char="•"/>
            </a:pPr>
            <a:r>
              <a:rPr lang="en-US" dirty="0">
                <a:solidFill>
                  <a:srgbClr val="333333"/>
                </a:solidFill>
                <a:latin typeface="Times New Roman" panose="02020603050405020304" pitchFamily="18" charset="0"/>
                <a:ea typeface="Times New Roman" panose="02020603050405020304" pitchFamily="18" charset="0"/>
              </a:rPr>
              <a:t>IDE/Workbench		:  </a:t>
            </a:r>
            <a:r>
              <a:rPr lang="en-US" dirty="0" err="1">
                <a:solidFill>
                  <a:srgbClr val="333333"/>
                </a:solidFill>
                <a:latin typeface="Times New Roman" panose="02020603050405020304" pitchFamily="18" charset="0"/>
                <a:ea typeface="Times New Roman" panose="02020603050405020304" pitchFamily="18" charset="0"/>
              </a:rPr>
              <a:t>PyCharm</a:t>
            </a:r>
            <a:r>
              <a:rPr lang="en-US" dirty="0">
                <a:solidFill>
                  <a:srgbClr val="333333"/>
                </a:solidFill>
                <a:latin typeface="Times New Roman" panose="02020603050405020304" pitchFamily="18" charset="0"/>
                <a:ea typeface="Times New Roman" panose="02020603050405020304" pitchFamily="18" charset="0"/>
              </a:rPr>
              <a:t>/VS Code</a:t>
            </a:r>
            <a:endParaRPr lang="en-IN" sz="2000" dirty="0">
              <a:solidFill>
                <a:srgbClr val="333333"/>
              </a:solidFill>
              <a:latin typeface="Times New Roman" panose="02020603050405020304" pitchFamily="18" charset="0"/>
              <a:ea typeface="Times New Roman" panose="02020603050405020304" pitchFamily="18" charset="0"/>
            </a:endParaRPr>
          </a:p>
          <a:p>
            <a:pPr marL="742950" indent="-285750" algn="just">
              <a:lnSpc>
                <a:spcPct val="150000"/>
              </a:lnSpc>
              <a:spcAft>
                <a:spcPts val="0"/>
              </a:spcAft>
              <a:buFont typeface="Arial" panose="020B0604020202020204" pitchFamily="34" charset="0"/>
              <a:buChar char="•"/>
            </a:pPr>
            <a:r>
              <a:rPr lang="en-US" dirty="0">
                <a:solidFill>
                  <a:srgbClr val="333333"/>
                </a:solidFill>
                <a:latin typeface="Times New Roman" panose="02020603050405020304" pitchFamily="18" charset="0"/>
                <a:ea typeface="Times New Roman" panose="02020603050405020304" pitchFamily="18" charset="0"/>
              </a:rPr>
              <a:t>Technology			:  Python 3.6+</a:t>
            </a:r>
            <a:endParaRPr lang="en-IN" sz="2000" dirty="0">
              <a:solidFill>
                <a:srgbClr val="333333"/>
              </a:solidFill>
              <a:latin typeface="Times New Roman" panose="02020603050405020304" pitchFamily="18" charset="0"/>
              <a:ea typeface="Times New Roman" panose="02020603050405020304" pitchFamily="18" charset="0"/>
            </a:endParaRPr>
          </a:p>
          <a:p>
            <a:pPr marL="742950" indent="-285750" algn="just">
              <a:lnSpc>
                <a:spcPct val="150000"/>
              </a:lnSpc>
              <a:spcAft>
                <a:spcPts val="0"/>
              </a:spcAft>
              <a:buFont typeface="Arial" panose="020B0604020202020204" pitchFamily="34" charset="0"/>
              <a:buChar char="•"/>
            </a:pPr>
            <a:r>
              <a:rPr lang="en-US" dirty="0">
                <a:solidFill>
                  <a:srgbClr val="333333"/>
                </a:solidFill>
                <a:latin typeface="Times New Roman" panose="02020603050405020304" pitchFamily="18" charset="0"/>
                <a:ea typeface="Times New Roman" panose="02020603050405020304" pitchFamily="18" charset="0"/>
              </a:rPr>
              <a:t>Server Deployment		:  </a:t>
            </a:r>
            <a:r>
              <a:rPr lang="en-US" dirty="0" err="1">
                <a:solidFill>
                  <a:srgbClr val="333333"/>
                </a:solidFill>
                <a:latin typeface="Times New Roman" panose="02020603050405020304" pitchFamily="18" charset="0"/>
                <a:ea typeface="Times New Roman" panose="02020603050405020304" pitchFamily="18" charset="0"/>
              </a:rPr>
              <a:t>Xampp</a:t>
            </a:r>
            <a:r>
              <a:rPr lang="en-US" dirty="0">
                <a:solidFill>
                  <a:srgbClr val="333333"/>
                </a:solidFill>
                <a:latin typeface="Times New Roman" panose="02020603050405020304" pitchFamily="18" charset="0"/>
                <a:ea typeface="Times New Roman" panose="02020603050405020304" pitchFamily="18" charset="0"/>
              </a:rPr>
              <a:t> Server</a:t>
            </a:r>
            <a:endParaRPr lang="en-IN" sz="2000" dirty="0">
              <a:solidFill>
                <a:srgbClr val="333333"/>
              </a:solidFill>
              <a:latin typeface="Times New Roman" panose="02020603050405020304" pitchFamily="18" charset="0"/>
              <a:ea typeface="Times New Roman" panose="02020603050405020304" pitchFamily="18" charset="0"/>
            </a:endParaRPr>
          </a:p>
          <a:p>
            <a:pPr marL="742950" indent="-285750" algn="just">
              <a:lnSpc>
                <a:spcPct val="150000"/>
              </a:lnSpc>
              <a:spcAft>
                <a:spcPts val="0"/>
              </a:spcAft>
              <a:buFont typeface="Arial" panose="020B0604020202020204" pitchFamily="34" charset="0"/>
              <a:buChar char="•"/>
            </a:pPr>
            <a:r>
              <a:rPr lang="en-US" dirty="0">
                <a:solidFill>
                  <a:srgbClr val="333333"/>
                </a:solidFill>
                <a:latin typeface="Times New Roman" panose="02020603050405020304" pitchFamily="18" charset="0"/>
                <a:ea typeface="Times New Roman" panose="02020603050405020304" pitchFamily="18" charset="0"/>
              </a:rPr>
              <a:t>Database			:  MySQL</a:t>
            </a:r>
            <a:endParaRPr lang="en-IN" sz="2000" dirty="0">
              <a:solidFill>
                <a:srgbClr val="333333"/>
              </a:solidFill>
              <a:effectLst/>
              <a:latin typeface="Times New Roman" panose="02020603050405020304" pitchFamily="18" charset="0"/>
              <a:ea typeface="Times New Roman" panose="02020603050405020304" pitchFamily="18" charset="0"/>
            </a:endParaRPr>
          </a:p>
        </p:txBody>
      </p:sp>
      <p:sp>
        <p:nvSpPr>
          <p:cNvPr id="4" name="Rectangle 3"/>
          <p:cNvSpPr/>
          <p:nvPr/>
        </p:nvSpPr>
        <p:spPr>
          <a:xfrm>
            <a:off x="6096000" y="1268018"/>
            <a:ext cx="6096000" cy="3277820"/>
          </a:xfrm>
          <a:prstGeom prst="rect">
            <a:avLst/>
          </a:prstGeom>
        </p:spPr>
        <p:txBody>
          <a:bodyPr>
            <a:spAutoFit/>
          </a:bodyPr>
          <a:lstStyle/>
          <a:p>
            <a:pPr indent="457200" algn="just">
              <a:lnSpc>
                <a:spcPct val="150000"/>
              </a:lnSpc>
              <a:spcBef>
                <a:spcPts val="1200"/>
              </a:spcBef>
              <a:spcAft>
                <a:spcPts val="300"/>
              </a:spcAft>
            </a:pPr>
            <a:r>
              <a:rPr lang="en-US" b="1" dirty="0">
                <a:latin typeface="Times New Roman" panose="02020603050405020304" pitchFamily="18" charset="0"/>
                <a:cs typeface="Times New Roman" panose="02020603050405020304" pitchFamily="18" charset="0"/>
              </a:rPr>
              <a:t>HARDWARE REQUIREMENTS</a:t>
            </a:r>
            <a:endParaRPr lang="en-US" b="1" kern="1600" dirty="0">
              <a:solidFill>
                <a:srgbClr val="000000"/>
              </a:solidFill>
              <a:latin typeface="Times New Roman" panose="02020603050405020304" pitchFamily="18" charset="0"/>
              <a:ea typeface="Times New Roman" panose="02020603050405020304" pitchFamily="18" charset="0"/>
            </a:endParaRPr>
          </a:p>
          <a:p>
            <a:pPr marL="285750" indent="-285750" algn="just">
              <a:lnSpc>
                <a:spcPct val="150000"/>
              </a:lnSpc>
              <a:spcBef>
                <a:spcPts val="1200"/>
              </a:spcBef>
              <a:spcAft>
                <a:spcPts val="300"/>
              </a:spcAft>
              <a:buFont typeface="Arial" panose="020B0604020202020204" pitchFamily="34" charset="0"/>
              <a:buChar char="•"/>
            </a:pPr>
            <a:r>
              <a:rPr lang="en-US" kern="1600" dirty="0">
                <a:solidFill>
                  <a:srgbClr val="000000"/>
                </a:solidFill>
                <a:latin typeface="Times New Roman" panose="02020603050405020304" pitchFamily="18" charset="0"/>
                <a:ea typeface="Times New Roman" panose="02020603050405020304" pitchFamily="18" charset="0"/>
              </a:rPr>
              <a:t> </a:t>
            </a:r>
            <a:r>
              <a:rPr lang="en-US" kern="1800" dirty="0">
                <a:solidFill>
                  <a:srgbClr val="333333"/>
                </a:solidFill>
                <a:latin typeface="Times New Roman" panose="02020603050405020304" pitchFamily="18" charset="0"/>
                <a:ea typeface="Times New Roman" panose="02020603050405020304" pitchFamily="18" charset="0"/>
              </a:rPr>
              <a:t>Processor			- I3/Intel Processor</a:t>
            </a:r>
            <a:endParaRPr lang="en-IN" sz="2400" kern="1600" dirty="0">
              <a:solidFill>
                <a:srgbClr val="333333"/>
              </a:solidFill>
              <a:latin typeface="Arial" panose="020B0604020202020204" pitchFamily="34" charset="0"/>
              <a:ea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Hard Disk			- 160GB</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Mouse				- Two or Three Button Mouse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Monitor			- SVGA</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RAM				- 8GB</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57282798"/>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73</TotalTime>
  <Words>1368</Words>
  <Application>Microsoft Office PowerPoint</Application>
  <PresentationFormat>Widescreen</PresentationFormat>
  <Paragraphs>46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Tw Cen MT</vt:lpstr>
      <vt:lpstr>Droplet</vt:lpstr>
      <vt:lpstr>Natural language translation engine for announcements and information dissemination at stations </vt:lpstr>
      <vt:lpstr>ABSTRACT:</vt:lpstr>
      <vt:lpstr>INTRODUCTION:</vt:lpstr>
      <vt:lpstr>PowerPoint Presentation</vt:lpstr>
      <vt:lpstr>HOW TECHNOLOGY WORKS ON THIS PROJECT:</vt:lpstr>
      <vt:lpstr>EXISTING SYSTEM:</vt:lpstr>
      <vt:lpstr>LIMITATIONS OF EXISTING:</vt:lpstr>
      <vt:lpstr>PROPOSED SYSTEM:</vt:lpstr>
      <vt:lpstr>ADVANTAGES:</vt:lpstr>
      <vt:lpstr>DATASET DESCRIPTION: </vt:lpstr>
      <vt:lpstr>HARDWARE &amp; SOFTWARE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 S Jashvitha Sai</dc:creator>
  <cp:lastModifiedBy>Adithya M</cp:lastModifiedBy>
  <cp:revision>13</cp:revision>
  <dcterms:created xsi:type="dcterms:W3CDTF">2024-01-05T04:40:44Z</dcterms:created>
  <dcterms:modified xsi:type="dcterms:W3CDTF">2024-01-27T04:54:41Z</dcterms:modified>
</cp:coreProperties>
</file>